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356" r:id="rId3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46" r:id="rId14"/>
    <p:sldId id="314" r:id="rId15"/>
    <p:sldId id="351" r:id="rId16"/>
    <p:sldId id="347" r:id="rId17"/>
    <p:sldId id="352" r:id="rId18"/>
    <p:sldId id="353" r:id="rId19"/>
    <p:sldId id="354" r:id="rId20"/>
    <p:sldId id="355" r:id="rId21"/>
    <p:sldId id="350" r:id="rId22"/>
  </p:sldIdLst>
  <p:sldSz cx="12192000" cy="6858000"/>
  <p:notesSz cx="6858000" cy="9144000"/>
  <p:embeddedFontLst>
    <p:embeddedFont>
      <p:font typeface="思源宋体 CN" panose="02020400000000000000" charset="-122"/>
      <p:regular r:id="rId27"/>
    </p:embeddedFont>
    <p:embeddedFont>
      <p:font typeface="方正小标宋简体" panose="02000000000000000000" charset="-122"/>
      <p:regular r:id="rId28"/>
    </p:embeddedFont>
    <p:embeddedFont>
      <p:font typeface="思源宋体 CN Heavy" panose="02020900000000000000" charset="-122"/>
      <p:bold r:id="rId29"/>
    </p:embeddedFont>
    <p:embeddedFont>
      <p:font typeface="黑体" panose="02010609060101010101" charset="-122"/>
      <p:regular r:id="rId30"/>
    </p:embeddedFont>
    <p:embeddedFont>
      <p:font typeface="等线" panose="02010600030101010101" charset="-122"/>
      <p:regular r:id="rId31"/>
      <p:bold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7456D"/>
    <a:srgbClr val="E2EEF8"/>
    <a:srgbClr val="23FFAF"/>
    <a:srgbClr val="F91919"/>
    <a:srgbClr val="F7C226"/>
    <a:srgbClr val="C7A934"/>
    <a:srgbClr val="979042"/>
    <a:srgbClr val="677751"/>
    <a:srgbClr val="375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1"/>
        <p:guide pos="39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15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A7B40-9EB7-4C77-8556-119F053A3BC1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</dgm:pt>
    <dgm:pt modelId="{7166A9DB-20D7-41DA-B6C7-4E91D46FE0E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文献检索</a:t>
          </a:r>
          <a:r>
            <a:rPr lang="zh-CN" altLang="en-US">
              <a:latin typeface="等线" panose="02010600030101010101" charset="-122"/>
              <a:ea typeface="等线" panose="02010600030101010101" charset="-122"/>
            </a:rPr>
            <a:t/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gm:t>
    </dgm:pt>
    <dgm:pt modelId="{408890A2-EC03-4CB7-8006-30F7A6F0770D}" cxnId="{C3B041F6-DCB4-4B92-B661-AB6CB3E4F644}" type="parTrans">
      <dgm:prSet/>
      <dgm:spPr/>
    </dgm:pt>
    <dgm:pt modelId="{581D0B67-AC66-4DBF-B99A-8C26BE060068}" cxnId="{C3B041F6-DCB4-4B92-B661-AB6CB3E4F644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/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gm:t>
    </dgm:pt>
    <dgm:pt modelId="{6185F46A-CE7B-4D19-AD38-021F06F1172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数据清洗</a:t>
          </a:r>
          <a:r>
            <a:rPr lang="zh-CN" altLang="en-US">
              <a:latin typeface="等线" panose="02010600030101010101" charset="-122"/>
              <a:ea typeface="等线" panose="02010600030101010101" charset="-122"/>
            </a:rPr>
            <a:t/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gm:t>
    </dgm:pt>
    <dgm:pt modelId="{ED707A62-C95F-489D-A288-204A854541E1}" cxnId="{3246216D-2E2D-4169-A60B-FDCEA1A8890F}" type="parTrans">
      <dgm:prSet/>
      <dgm:spPr/>
    </dgm:pt>
    <dgm:pt modelId="{209F9C23-F1DF-401B-A4AD-306C9EB4247C}" cxnId="{3246216D-2E2D-4169-A60B-FDCEA1A8890F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/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gm:t>
    </dgm:pt>
    <dgm:pt modelId="{9D4F7890-BC71-471E-AB1B-9F598D75285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数据标准化</a:t>
          </a:r>
          <a:r>
            <a:rPr lang="zh-CN" altLang="en-US">
              <a:latin typeface="等线" panose="02010600030101010101" charset="-122"/>
              <a:ea typeface="等线" panose="02010600030101010101" charset="-122"/>
            </a:rPr>
            <a:t/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gm:t>
    </dgm:pt>
    <dgm:pt modelId="{8A81A9A1-3D17-4B5E-823A-F4C61634A717}" cxnId="{CEDE51A4-4474-4D5B-9C63-8EE431EEEC76}" type="parTrans">
      <dgm:prSet/>
      <dgm:spPr/>
    </dgm:pt>
    <dgm:pt modelId="{A02D4AB0-BE01-45C2-BD3E-6766ADB3B021}" cxnId="{CEDE51A4-4474-4D5B-9C63-8EE431EEEC76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等线" panose="02010600030101010101" charset="-122"/>
              <a:ea typeface="等线" panose="02010600030101010101" charset="-122"/>
            </a:rPr>
            <a:t/>
          </a:r>
          <a:endParaRPr>
            <a:latin typeface="等线" panose="02010600030101010101" charset="-122"/>
            <a:ea typeface="等线" panose="02010600030101010101" charset="-122"/>
          </a:endParaRPr>
        </a:p>
      </dgm:t>
    </dgm:pt>
    <dgm:pt modelId="{1F181BEB-40F8-438A-A49B-5142E55ECA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频次统计</a:t>
          </a:r>
          <a:r>
            <a:rPr altLang="en-US">
              <a:latin typeface="等线" panose="02010600030101010101" charset="-122"/>
              <a:ea typeface="等线" panose="02010600030101010101" charset="-122"/>
            </a:rPr>
            <a:t/>
          </a:r>
          <a:endParaRPr altLang="en-US">
            <a:latin typeface="等线" panose="02010600030101010101" charset="-122"/>
            <a:ea typeface="等线" panose="02010600030101010101" charset="-122"/>
          </a:endParaRPr>
        </a:p>
      </dgm:t>
    </dgm:pt>
    <dgm:pt modelId="{8C0F4C23-82AA-4D9A-AC3E-88ACD6189507}" cxnId="{1F89C896-4593-4F6F-B257-92850C9ED18D}" type="parTrans">
      <dgm:prSet/>
      <dgm:spPr/>
    </dgm:pt>
    <dgm:pt modelId="{068F3265-2713-44B6-A3D9-2645D8E0A421}" cxnId="{1F89C896-4593-4F6F-B257-92850C9ED18D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等线" panose="02010600030101010101" charset="-122"/>
              <a:ea typeface="等线" panose="02010600030101010101" charset="-122"/>
            </a:rPr>
            <a:t/>
          </a:r>
          <a:endParaRPr>
            <a:latin typeface="等线" panose="02010600030101010101" charset="-122"/>
            <a:ea typeface="等线" panose="02010600030101010101" charset="-122"/>
          </a:endParaRPr>
        </a:p>
      </dgm:t>
    </dgm:pt>
    <dgm:pt modelId="{DACC1C71-9D03-4045-BF92-4F0A56A7CDE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共被引分析</a:t>
          </a:r>
          <a:r>
            <a:rPr altLang="en-US">
              <a:latin typeface="等线" panose="02010600030101010101" charset="-122"/>
              <a:ea typeface="等线" panose="02010600030101010101" charset="-122"/>
            </a:rPr>
            <a:t/>
          </a:r>
          <a:endParaRPr altLang="en-US">
            <a:latin typeface="等线" panose="02010600030101010101" charset="-122"/>
            <a:ea typeface="等线" panose="02010600030101010101" charset="-122"/>
          </a:endParaRPr>
        </a:p>
      </dgm:t>
    </dgm:pt>
    <dgm:pt modelId="{2193DDE4-219D-4741-A56B-B757EF2D58AA}" cxnId="{B81BF944-7084-4A69-997B-B69D79A00C4F}" type="parTrans">
      <dgm:prSet/>
      <dgm:spPr/>
    </dgm:pt>
    <dgm:pt modelId="{EE0F9E01-C7BC-437B-8955-A76D070DC72E}" cxnId="{B81BF944-7084-4A69-997B-B69D79A00C4F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等线" panose="02010600030101010101" charset="-122"/>
              <a:ea typeface="等线" panose="02010600030101010101" charset="-122"/>
            </a:rPr>
            <a:t/>
          </a:r>
          <a:endParaRPr>
            <a:latin typeface="等线" panose="02010600030101010101" charset="-122"/>
            <a:ea typeface="等线" panose="02010600030101010101" charset="-122"/>
          </a:endParaRPr>
        </a:p>
      </dgm:t>
    </dgm:pt>
    <dgm:pt modelId="{458E9450-9B1D-4348-94FC-6E8439DB741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文献耦合分析</a:t>
          </a:r>
          <a:r>
            <a:rPr altLang="en-US">
              <a:latin typeface="等线" panose="02010600030101010101" charset="-122"/>
              <a:ea typeface="等线" panose="02010600030101010101" charset="-122"/>
            </a:rPr>
            <a:t/>
          </a:r>
          <a:endParaRPr altLang="en-US">
            <a:latin typeface="等线" panose="02010600030101010101" charset="-122"/>
            <a:ea typeface="等线" panose="02010600030101010101" charset="-122"/>
          </a:endParaRPr>
        </a:p>
      </dgm:t>
    </dgm:pt>
    <dgm:pt modelId="{4F148CE6-CEDE-44DA-872C-66B0E65ADF2E}" cxnId="{9AB8F90D-3332-4265-8908-3D99CC24E2B2}" type="parTrans">
      <dgm:prSet/>
      <dgm:spPr/>
    </dgm:pt>
    <dgm:pt modelId="{BA527698-2946-4930-AF71-1507478C820B}" cxnId="{9AB8F90D-3332-4265-8908-3D99CC24E2B2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等线" panose="02010600030101010101" charset="-122"/>
              <a:ea typeface="等线" panose="02010600030101010101" charset="-122"/>
            </a:rPr>
            <a:t/>
          </a:r>
          <a:endParaRPr>
            <a:latin typeface="等线" panose="02010600030101010101" charset="-122"/>
            <a:ea typeface="等线" panose="02010600030101010101" charset="-122"/>
          </a:endParaRPr>
        </a:p>
      </dgm:t>
    </dgm:pt>
    <dgm:pt modelId="{6D2AF45D-6869-4F18-AAD2-7B0310CFE62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合作网络分析</a:t>
          </a:r>
          <a:r>
            <a:rPr altLang="en-US">
              <a:latin typeface="等线" panose="02010600030101010101" charset="-122"/>
              <a:ea typeface="等线" panose="02010600030101010101" charset="-122"/>
            </a:rPr>
            <a:t/>
          </a:r>
          <a:endParaRPr altLang="en-US">
            <a:latin typeface="等线" panose="02010600030101010101" charset="-122"/>
            <a:ea typeface="等线" panose="02010600030101010101" charset="-122"/>
          </a:endParaRPr>
        </a:p>
      </dgm:t>
    </dgm:pt>
    <dgm:pt modelId="{8AE946A1-FE93-445B-BD3B-81F9BE76241B}" cxnId="{6629F4EB-CD8A-4FD0-B627-73EE172B3249}" type="parTrans">
      <dgm:prSet/>
      <dgm:spPr/>
    </dgm:pt>
    <dgm:pt modelId="{418231EC-1EF7-4BDB-86B7-8504988024F7}" cxnId="{6629F4EB-CD8A-4FD0-B627-73EE172B3249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等线" panose="02010600030101010101" charset="-122"/>
              <a:ea typeface="等线" panose="02010600030101010101" charset="-122"/>
            </a:rPr>
            <a:t/>
          </a:r>
          <a:endParaRPr>
            <a:latin typeface="等线" panose="02010600030101010101" charset="-122"/>
            <a:ea typeface="等线" panose="02010600030101010101" charset="-122"/>
          </a:endParaRPr>
        </a:p>
      </dgm:t>
    </dgm:pt>
    <dgm:pt modelId="{45D403AE-9659-4726-B4B1-CE46A8545C3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结果可视化</a:t>
          </a:r>
          <a:r>
            <a:rPr altLang="en-US">
              <a:latin typeface="等线" panose="02010600030101010101" charset="-122"/>
              <a:ea typeface="等线" panose="02010600030101010101" charset="-122"/>
            </a:rPr>
            <a:t/>
          </a:r>
          <a:endParaRPr altLang="en-US">
            <a:latin typeface="等线" panose="02010600030101010101" charset="-122"/>
            <a:ea typeface="等线" panose="02010600030101010101" charset="-122"/>
          </a:endParaRPr>
        </a:p>
      </dgm:t>
    </dgm:pt>
    <dgm:pt modelId="{A64B0948-AECF-4FF2-B3B4-6343CF913468}" cxnId="{6206BE2B-B5A0-4858-8A66-DEE1E750B4CC}" type="parTrans">
      <dgm:prSet/>
      <dgm:spPr/>
    </dgm:pt>
    <dgm:pt modelId="{6B2FFAE5-DFC2-4366-BE73-C10562EE2098}" cxnId="{6206BE2B-B5A0-4858-8A66-DEE1E750B4CC}" type="sibTrans">
      <dgm:prSet/>
      <dgm:spPr/>
    </dgm:pt>
    <dgm:pt modelId="{7E3F7EC5-1729-4088-BB09-36E02E33A0BF}" type="pres">
      <dgm:prSet presAssocID="{A4CA7B40-9EB7-4C77-8556-119F053A3BC1}" presName="linearFlow" presStyleCnt="0">
        <dgm:presLayoutVars>
          <dgm:resizeHandles val="exact"/>
        </dgm:presLayoutVars>
      </dgm:prSet>
      <dgm:spPr/>
    </dgm:pt>
    <dgm:pt modelId="{E17E57AF-0587-449A-A755-B1B96DEF2BD2}" type="pres">
      <dgm:prSet presAssocID="{7166A9DB-20D7-41DA-B6C7-4E91D46FE0EA}" presName="node" presStyleLbl="node1" presStyleIdx="0" presStyleCnt="8">
        <dgm:presLayoutVars>
          <dgm:bulletEnabled val="1"/>
        </dgm:presLayoutVars>
      </dgm:prSet>
      <dgm:spPr/>
    </dgm:pt>
    <dgm:pt modelId="{11477A19-6F59-488F-BD44-5E3FBE8E3386}" type="pres">
      <dgm:prSet presAssocID="{581D0B67-AC66-4DBF-B99A-8C26BE060068}" presName="sibTrans" presStyleLbl="sibTrans2D1" presStyleIdx="0" presStyleCnt="7"/>
      <dgm:spPr/>
    </dgm:pt>
    <dgm:pt modelId="{1FA9844B-FD2C-4DAF-BE12-A8E3C3B7E384}" type="pres">
      <dgm:prSet presAssocID="{581D0B67-AC66-4DBF-B99A-8C26BE060068}" presName="connectorText" presStyleCnt="0"/>
      <dgm:spPr/>
    </dgm:pt>
    <dgm:pt modelId="{353C71C7-5E8B-4565-86BF-B755B524B25E}" type="pres">
      <dgm:prSet presAssocID="{6185F46A-CE7B-4D19-AD38-021F06F11723}" presName="node" presStyleLbl="node1" presStyleIdx="1" presStyleCnt="8">
        <dgm:presLayoutVars>
          <dgm:bulletEnabled val="1"/>
        </dgm:presLayoutVars>
      </dgm:prSet>
      <dgm:spPr/>
    </dgm:pt>
    <dgm:pt modelId="{06ECC167-6368-4F79-84C6-65D90B9BC4A6}" type="pres">
      <dgm:prSet presAssocID="{209F9C23-F1DF-401B-A4AD-306C9EB4247C}" presName="sibTrans" presStyleLbl="sibTrans2D1" presStyleIdx="1" presStyleCnt="7"/>
      <dgm:spPr/>
    </dgm:pt>
    <dgm:pt modelId="{1AF533A8-48F1-4B19-9CD9-5A2DB7199B85}" type="pres">
      <dgm:prSet presAssocID="{209F9C23-F1DF-401B-A4AD-306C9EB4247C}" presName="connectorText" presStyleCnt="0"/>
      <dgm:spPr/>
    </dgm:pt>
    <dgm:pt modelId="{93DEFB83-998E-4F52-9267-01422D869D93}" type="pres">
      <dgm:prSet presAssocID="{9D4F7890-BC71-471E-AB1B-9F598D752858}" presName="node" presStyleLbl="node1" presStyleIdx="2" presStyleCnt="8">
        <dgm:presLayoutVars>
          <dgm:bulletEnabled val="1"/>
        </dgm:presLayoutVars>
      </dgm:prSet>
      <dgm:spPr/>
    </dgm:pt>
    <dgm:pt modelId="{F467ED95-40E4-4988-8595-9BD6955C3CB6}" type="pres">
      <dgm:prSet presAssocID="{A02D4AB0-BE01-45C2-BD3E-6766ADB3B021}" presName="sibTrans" presStyleLbl="sibTrans2D1" presStyleIdx="2" presStyleCnt="7"/>
      <dgm:spPr/>
    </dgm:pt>
    <dgm:pt modelId="{1AB7CDE9-85DD-4388-8A42-2A40DE133859}" type="pres">
      <dgm:prSet presAssocID="{A02D4AB0-BE01-45C2-BD3E-6766ADB3B021}" presName="connectorText" presStyleCnt="0"/>
      <dgm:spPr/>
    </dgm:pt>
    <dgm:pt modelId="{E2D03EED-D244-4640-9BB2-647386AF0621}" type="pres">
      <dgm:prSet presAssocID="{1F181BEB-40F8-438A-A49B-5142E55ECAAE}" presName="node" presStyleLbl="node1" presStyleIdx="3" presStyleCnt="8">
        <dgm:presLayoutVars>
          <dgm:bulletEnabled val="1"/>
        </dgm:presLayoutVars>
      </dgm:prSet>
      <dgm:spPr/>
    </dgm:pt>
    <dgm:pt modelId="{914055C9-8EA5-48C1-B66E-506F28439449}" type="pres">
      <dgm:prSet presAssocID="{068F3265-2713-44B6-A3D9-2645D8E0A421}" presName="sibTrans" presStyleLbl="sibTrans2D1" presStyleIdx="3" presStyleCnt="7"/>
      <dgm:spPr/>
    </dgm:pt>
    <dgm:pt modelId="{960435D9-C3AB-4916-8F35-4F20DAFE56DE}" type="pres">
      <dgm:prSet presAssocID="{068F3265-2713-44B6-A3D9-2645D8E0A421}" presName="connectorText" presStyleCnt="0"/>
      <dgm:spPr/>
    </dgm:pt>
    <dgm:pt modelId="{5CEF5857-FE22-4FD2-AD2A-E7460BCFADBE}" type="pres">
      <dgm:prSet presAssocID="{DACC1C71-9D03-4045-BF92-4F0A56A7CDE1}" presName="node" presStyleLbl="node1" presStyleIdx="4" presStyleCnt="8">
        <dgm:presLayoutVars>
          <dgm:bulletEnabled val="1"/>
        </dgm:presLayoutVars>
      </dgm:prSet>
      <dgm:spPr/>
    </dgm:pt>
    <dgm:pt modelId="{D961F3E3-19D9-4B2C-BE92-6B9FA02D9F2E}" type="pres">
      <dgm:prSet presAssocID="{EE0F9E01-C7BC-437B-8955-A76D070DC72E}" presName="sibTrans" presStyleLbl="sibTrans2D1" presStyleIdx="4" presStyleCnt="7"/>
      <dgm:spPr/>
    </dgm:pt>
    <dgm:pt modelId="{23438C97-A59E-448A-AF53-480604728074}" type="pres">
      <dgm:prSet presAssocID="{EE0F9E01-C7BC-437B-8955-A76D070DC72E}" presName="connectorText" presStyleCnt="0"/>
      <dgm:spPr/>
    </dgm:pt>
    <dgm:pt modelId="{4ECBCC04-EB25-46E3-951F-FD183941C15F}" type="pres">
      <dgm:prSet presAssocID="{458E9450-9B1D-4348-94FC-6E8439DB741B}" presName="node" presStyleLbl="node1" presStyleIdx="5" presStyleCnt="8">
        <dgm:presLayoutVars>
          <dgm:bulletEnabled val="1"/>
        </dgm:presLayoutVars>
      </dgm:prSet>
      <dgm:spPr/>
    </dgm:pt>
    <dgm:pt modelId="{DAFB54E5-84CE-486D-9476-E0A6ABE9436E}" type="pres">
      <dgm:prSet presAssocID="{BA527698-2946-4930-AF71-1507478C820B}" presName="sibTrans" presStyleLbl="sibTrans2D1" presStyleIdx="5" presStyleCnt="7"/>
      <dgm:spPr/>
    </dgm:pt>
    <dgm:pt modelId="{F760B555-A588-4526-991D-22EFF31C4C31}" type="pres">
      <dgm:prSet presAssocID="{BA527698-2946-4930-AF71-1507478C820B}" presName="connectorText" presStyleCnt="0"/>
      <dgm:spPr/>
    </dgm:pt>
    <dgm:pt modelId="{BB1790B6-B585-49CF-95F2-A57097E4E39B}" type="pres">
      <dgm:prSet presAssocID="{6D2AF45D-6869-4F18-AAD2-7B0310CFE628}" presName="node" presStyleLbl="node1" presStyleIdx="6" presStyleCnt="8">
        <dgm:presLayoutVars>
          <dgm:bulletEnabled val="1"/>
        </dgm:presLayoutVars>
      </dgm:prSet>
      <dgm:spPr/>
    </dgm:pt>
    <dgm:pt modelId="{95A60442-638C-4E5B-87F6-59272F5949E7}" type="pres">
      <dgm:prSet presAssocID="{418231EC-1EF7-4BDB-86B7-8504988024F7}" presName="sibTrans" presStyleLbl="sibTrans2D1" presStyleIdx="6" presStyleCnt="7"/>
      <dgm:spPr/>
    </dgm:pt>
    <dgm:pt modelId="{3DA0D194-098C-49F4-9CCA-54E071CA63CA}" type="pres">
      <dgm:prSet presAssocID="{418231EC-1EF7-4BDB-86B7-8504988024F7}" presName="connectorText" presStyleCnt="0"/>
      <dgm:spPr/>
    </dgm:pt>
    <dgm:pt modelId="{60D14FA2-1E8C-4184-8CA3-534F1FC3CB66}" type="pres">
      <dgm:prSet presAssocID="{45D403AE-9659-4726-B4B1-CE46A8545C32}" presName="node" presStyleLbl="node1" presStyleIdx="7" presStyleCnt="8">
        <dgm:presLayoutVars>
          <dgm:bulletEnabled val="1"/>
        </dgm:presLayoutVars>
      </dgm:prSet>
      <dgm:spPr/>
    </dgm:pt>
  </dgm:ptLst>
  <dgm:cxnLst>
    <dgm:cxn modelId="{C3B041F6-DCB4-4B92-B661-AB6CB3E4F644}" srcId="{A4CA7B40-9EB7-4C77-8556-119F053A3BC1}" destId="{7166A9DB-20D7-41DA-B6C7-4E91D46FE0EA}" srcOrd="0" destOrd="0" parTransId="{408890A2-EC03-4CB7-8006-30F7A6F0770D}" sibTransId="{581D0B67-AC66-4DBF-B99A-8C26BE060068}"/>
    <dgm:cxn modelId="{3246216D-2E2D-4169-A60B-FDCEA1A8890F}" srcId="{A4CA7B40-9EB7-4C77-8556-119F053A3BC1}" destId="{6185F46A-CE7B-4D19-AD38-021F06F11723}" srcOrd="1" destOrd="0" parTransId="{ED707A62-C95F-489D-A288-204A854541E1}" sibTransId="{209F9C23-F1DF-401B-A4AD-306C9EB4247C}"/>
    <dgm:cxn modelId="{CEDE51A4-4474-4D5B-9C63-8EE431EEEC76}" srcId="{A4CA7B40-9EB7-4C77-8556-119F053A3BC1}" destId="{9D4F7890-BC71-471E-AB1B-9F598D752858}" srcOrd="2" destOrd="0" parTransId="{8A81A9A1-3D17-4B5E-823A-F4C61634A717}" sibTransId="{A02D4AB0-BE01-45C2-BD3E-6766ADB3B021}"/>
    <dgm:cxn modelId="{1F89C896-4593-4F6F-B257-92850C9ED18D}" srcId="{A4CA7B40-9EB7-4C77-8556-119F053A3BC1}" destId="{1F181BEB-40F8-438A-A49B-5142E55ECAAE}" srcOrd="3" destOrd="0" parTransId="{8C0F4C23-82AA-4D9A-AC3E-88ACD6189507}" sibTransId="{068F3265-2713-44B6-A3D9-2645D8E0A421}"/>
    <dgm:cxn modelId="{B81BF944-7084-4A69-997B-B69D79A00C4F}" srcId="{A4CA7B40-9EB7-4C77-8556-119F053A3BC1}" destId="{DACC1C71-9D03-4045-BF92-4F0A56A7CDE1}" srcOrd="4" destOrd="0" parTransId="{2193DDE4-219D-4741-A56B-B757EF2D58AA}" sibTransId="{EE0F9E01-C7BC-437B-8955-A76D070DC72E}"/>
    <dgm:cxn modelId="{9AB8F90D-3332-4265-8908-3D99CC24E2B2}" srcId="{A4CA7B40-9EB7-4C77-8556-119F053A3BC1}" destId="{458E9450-9B1D-4348-94FC-6E8439DB741B}" srcOrd="5" destOrd="0" parTransId="{4F148CE6-CEDE-44DA-872C-66B0E65ADF2E}" sibTransId="{BA527698-2946-4930-AF71-1507478C820B}"/>
    <dgm:cxn modelId="{6629F4EB-CD8A-4FD0-B627-73EE172B3249}" srcId="{A4CA7B40-9EB7-4C77-8556-119F053A3BC1}" destId="{6D2AF45D-6869-4F18-AAD2-7B0310CFE628}" srcOrd="6" destOrd="0" parTransId="{8AE946A1-FE93-445B-BD3B-81F9BE76241B}" sibTransId="{418231EC-1EF7-4BDB-86B7-8504988024F7}"/>
    <dgm:cxn modelId="{6206BE2B-B5A0-4858-8A66-DEE1E750B4CC}" srcId="{A4CA7B40-9EB7-4C77-8556-119F053A3BC1}" destId="{45D403AE-9659-4726-B4B1-CE46A8545C32}" srcOrd="7" destOrd="0" parTransId="{A64B0948-AECF-4FF2-B3B4-6343CF913468}" sibTransId="{6B2FFAE5-DFC2-4366-BE73-C10562EE2098}"/>
    <dgm:cxn modelId="{FB047324-6A08-4715-BBE7-676E280DC3F2}" type="presOf" srcId="{A4CA7B40-9EB7-4C77-8556-119F053A3BC1}" destId="{7E3F7EC5-1729-4088-BB09-36E02E33A0BF}" srcOrd="0" destOrd="0" presId="urn:microsoft.com/office/officeart/2005/8/layout/process2"/>
    <dgm:cxn modelId="{8CFA319E-1DB1-40C3-8425-14A528DCA361}" type="presParOf" srcId="{7E3F7EC5-1729-4088-BB09-36E02E33A0BF}" destId="{E17E57AF-0587-449A-A755-B1B96DEF2BD2}" srcOrd="0" destOrd="0" presId="urn:microsoft.com/office/officeart/2005/8/layout/process2"/>
    <dgm:cxn modelId="{104D8F4D-C3D4-4ED9-A2D0-4FDBAE5D8E6D}" type="presOf" srcId="{7166A9DB-20D7-41DA-B6C7-4E91D46FE0EA}" destId="{E17E57AF-0587-449A-A755-B1B96DEF2BD2}" srcOrd="0" destOrd="0" presId="urn:microsoft.com/office/officeart/2005/8/layout/process2"/>
    <dgm:cxn modelId="{BA12F261-72B8-4E48-BCDA-D1828B4063E1}" type="presParOf" srcId="{7E3F7EC5-1729-4088-BB09-36E02E33A0BF}" destId="{11477A19-6F59-488F-BD44-5E3FBE8E3386}" srcOrd="1" destOrd="0" presId="urn:microsoft.com/office/officeart/2005/8/layout/process2"/>
    <dgm:cxn modelId="{015B89D1-CC21-41C8-9A51-4BD634C65F08}" type="presOf" srcId="{581D0B67-AC66-4DBF-B99A-8C26BE060068}" destId="{11477A19-6F59-488F-BD44-5E3FBE8E3386}" srcOrd="0" destOrd="0" presId="urn:microsoft.com/office/officeart/2005/8/layout/process2"/>
    <dgm:cxn modelId="{97F06C83-CFE1-48F5-851E-59DB6BDD1BFD}" type="presParOf" srcId="{11477A19-6F59-488F-BD44-5E3FBE8E3386}" destId="{1FA9844B-FD2C-4DAF-BE12-A8E3C3B7E384}" srcOrd="0" destOrd="1" presId="urn:microsoft.com/office/officeart/2005/8/layout/process2"/>
    <dgm:cxn modelId="{CED3D391-F5F6-4DDD-B142-10C7215FE06C}" type="presOf" srcId="{581D0B67-AC66-4DBF-B99A-8C26BE060068}" destId="{1FA9844B-FD2C-4DAF-BE12-A8E3C3B7E384}" srcOrd="1" destOrd="0" presId="urn:microsoft.com/office/officeart/2005/8/layout/process2"/>
    <dgm:cxn modelId="{ABB7A80D-ABF3-4F2E-976A-2563F02BA6BE}" type="presParOf" srcId="{7E3F7EC5-1729-4088-BB09-36E02E33A0BF}" destId="{353C71C7-5E8B-4565-86BF-B755B524B25E}" srcOrd="2" destOrd="0" presId="urn:microsoft.com/office/officeart/2005/8/layout/process2"/>
    <dgm:cxn modelId="{66BEA50B-2373-47E2-A8C0-904179CDF40C}" type="presOf" srcId="{6185F46A-CE7B-4D19-AD38-021F06F11723}" destId="{353C71C7-5E8B-4565-86BF-B755B524B25E}" srcOrd="0" destOrd="0" presId="urn:microsoft.com/office/officeart/2005/8/layout/process2"/>
    <dgm:cxn modelId="{29A741C4-B9E2-4B00-B605-9E0EBF42D2F5}" type="presParOf" srcId="{7E3F7EC5-1729-4088-BB09-36E02E33A0BF}" destId="{06ECC167-6368-4F79-84C6-65D90B9BC4A6}" srcOrd="3" destOrd="0" presId="urn:microsoft.com/office/officeart/2005/8/layout/process2"/>
    <dgm:cxn modelId="{1A6B2479-5BA0-4D74-8752-46688A780F48}" type="presOf" srcId="{209F9C23-F1DF-401B-A4AD-306C9EB4247C}" destId="{06ECC167-6368-4F79-84C6-65D90B9BC4A6}" srcOrd="0" destOrd="0" presId="urn:microsoft.com/office/officeart/2005/8/layout/process2"/>
    <dgm:cxn modelId="{826E303B-825D-402C-AD15-BEB63A82313D}" type="presParOf" srcId="{06ECC167-6368-4F79-84C6-65D90B9BC4A6}" destId="{1AF533A8-48F1-4B19-9CD9-5A2DB7199B85}" srcOrd="0" destOrd="3" presId="urn:microsoft.com/office/officeart/2005/8/layout/process2"/>
    <dgm:cxn modelId="{1682C41D-4093-471F-8FE5-2F422BD7A46C}" type="presOf" srcId="{209F9C23-F1DF-401B-A4AD-306C9EB4247C}" destId="{1AF533A8-48F1-4B19-9CD9-5A2DB7199B85}" srcOrd="1" destOrd="0" presId="urn:microsoft.com/office/officeart/2005/8/layout/process2"/>
    <dgm:cxn modelId="{75A5678C-E7E6-4FC0-9EF3-4716D97AA43A}" type="presParOf" srcId="{7E3F7EC5-1729-4088-BB09-36E02E33A0BF}" destId="{93DEFB83-998E-4F52-9267-01422D869D93}" srcOrd="4" destOrd="0" presId="urn:microsoft.com/office/officeart/2005/8/layout/process2"/>
    <dgm:cxn modelId="{7057ABE9-7245-4E8F-A77A-E4534FC080FE}" type="presOf" srcId="{9D4F7890-BC71-471E-AB1B-9F598D752858}" destId="{93DEFB83-998E-4F52-9267-01422D869D93}" srcOrd="0" destOrd="0" presId="urn:microsoft.com/office/officeart/2005/8/layout/process2"/>
    <dgm:cxn modelId="{76557936-EAF0-43F5-B0FA-011166B81BE2}" type="presParOf" srcId="{7E3F7EC5-1729-4088-BB09-36E02E33A0BF}" destId="{F467ED95-40E4-4988-8595-9BD6955C3CB6}" srcOrd="5" destOrd="0" presId="urn:microsoft.com/office/officeart/2005/8/layout/process2"/>
    <dgm:cxn modelId="{2852DE43-A5F6-4872-8FC6-190FE8E0EA95}" type="presOf" srcId="{A02D4AB0-BE01-45C2-BD3E-6766ADB3B021}" destId="{F467ED95-40E4-4988-8595-9BD6955C3CB6}" srcOrd="0" destOrd="0" presId="urn:microsoft.com/office/officeart/2005/8/layout/process2"/>
    <dgm:cxn modelId="{463CA1D7-01CB-4A8E-9060-7E1596F66CB5}" type="presParOf" srcId="{F467ED95-40E4-4988-8595-9BD6955C3CB6}" destId="{1AB7CDE9-85DD-4388-8A42-2A40DE133859}" srcOrd="0" destOrd="5" presId="urn:microsoft.com/office/officeart/2005/8/layout/process2"/>
    <dgm:cxn modelId="{C62DB141-91D0-4521-8F70-DD2E971173B4}" type="presOf" srcId="{A02D4AB0-BE01-45C2-BD3E-6766ADB3B021}" destId="{1AB7CDE9-85DD-4388-8A42-2A40DE133859}" srcOrd="1" destOrd="0" presId="urn:microsoft.com/office/officeart/2005/8/layout/process2"/>
    <dgm:cxn modelId="{9F872123-819D-49DF-8D4F-BB7984FACCB1}" type="presParOf" srcId="{7E3F7EC5-1729-4088-BB09-36E02E33A0BF}" destId="{E2D03EED-D244-4640-9BB2-647386AF0621}" srcOrd="6" destOrd="0" presId="urn:microsoft.com/office/officeart/2005/8/layout/process2"/>
    <dgm:cxn modelId="{D8F6D28D-38C0-48F0-BADF-672B258ADD20}" type="presOf" srcId="{1F181BEB-40F8-438A-A49B-5142E55ECAAE}" destId="{E2D03EED-D244-4640-9BB2-647386AF0621}" srcOrd="0" destOrd="0" presId="urn:microsoft.com/office/officeart/2005/8/layout/process2"/>
    <dgm:cxn modelId="{6C02C766-F805-4174-86B9-B88EA38336F6}" type="presParOf" srcId="{7E3F7EC5-1729-4088-BB09-36E02E33A0BF}" destId="{914055C9-8EA5-48C1-B66E-506F28439449}" srcOrd="7" destOrd="0" presId="urn:microsoft.com/office/officeart/2005/8/layout/process2"/>
    <dgm:cxn modelId="{388DA20C-ECF3-4387-94AF-009B201DAE21}" type="presOf" srcId="{068F3265-2713-44B6-A3D9-2645D8E0A421}" destId="{914055C9-8EA5-48C1-B66E-506F28439449}" srcOrd="0" destOrd="0" presId="urn:microsoft.com/office/officeart/2005/8/layout/process2"/>
    <dgm:cxn modelId="{444753D1-EE27-49AE-AC6C-BCB512296847}" type="presParOf" srcId="{914055C9-8EA5-48C1-B66E-506F28439449}" destId="{960435D9-C3AB-4916-8F35-4F20DAFE56DE}" srcOrd="0" destOrd="7" presId="urn:microsoft.com/office/officeart/2005/8/layout/process2"/>
    <dgm:cxn modelId="{DEC8D145-AD38-4E3F-82BE-784431AC9614}" type="presOf" srcId="{068F3265-2713-44B6-A3D9-2645D8E0A421}" destId="{960435D9-C3AB-4916-8F35-4F20DAFE56DE}" srcOrd="1" destOrd="0" presId="urn:microsoft.com/office/officeart/2005/8/layout/process2"/>
    <dgm:cxn modelId="{28AECE7F-F316-49BE-883B-C487788196B8}" type="presParOf" srcId="{7E3F7EC5-1729-4088-BB09-36E02E33A0BF}" destId="{5CEF5857-FE22-4FD2-AD2A-E7460BCFADBE}" srcOrd="8" destOrd="0" presId="urn:microsoft.com/office/officeart/2005/8/layout/process2"/>
    <dgm:cxn modelId="{3CDA6B90-7BCB-4568-8234-01A4E612A55D}" type="presOf" srcId="{DACC1C71-9D03-4045-BF92-4F0A56A7CDE1}" destId="{5CEF5857-FE22-4FD2-AD2A-E7460BCFADBE}" srcOrd="0" destOrd="0" presId="urn:microsoft.com/office/officeart/2005/8/layout/process2"/>
    <dgm:cxn modelId="{6D393279-7568-495F-B939-B1E0CAC8D503}" type="presParOf" srcId="{7E3F7EC5-1729-4088-BB09-36E02E33A0BF}" destId="{D961F3E3-19D9-4B2C-BE92-6B9FA02D9F2E}" srcOrd="9" destOrd="0" presId="urn:microsoft.com/office/officeart/2005/8/layout/process2"/>
    <dgm:cxn modelId="{FA338638-0C2C-4815-94DB-F00F340258C0}" type="presOf" srcId="{EE0F9E01-C7BC-437B-8955-A76D070DC72E}" destId="{D961F3E3-19D9-4B2C-BE92-6B9FA02D9F2E}" srcOrd="0" destOrd="0" presId="urn:microsoft.com/office/officeart/2005/8/layout/process2"/>
    <dgm:cxn modelId="{CAFD3D87-AD10-4329-9595-E2EF3D23D005}" type="presParOf" srcId="{D961F3E3-19D9-4B2C-BE92-6B9FA02D9F2E}" destId="{23438C97-A59E-448A-AF53-480604728074}" srcOrd="0" destOrd="9" presId="urn:microsoft.com/office/officeart/2005/8/layout/process2"/>
    <dgm:cxn modelId="{59BB2D4B-414D-4F85-9E20-7244B23B6A71}" type="presOf" srcId="{EE0F9E01-C7BC-437B-8955-A76D070DC72E}" destId="{23438C97-A59E-448A-AF53-480604728074}" srcOrd="1" destOrd="0" presId="urn:microsoft.com/office/officeart/2005/8/layout/process2"/>
    <dgm:cxn modelId="{8E4F4A2B-B784-4FFF-B8C8-98338B6C229E}" type="presParOf" srcId="{7E3F7EC5-1729-4088-BB09-36E02E33A0BF}" destId="{4ECBCC04-EB25-46E3-951F-FD183941C15F}" srcOrd="10" destOrd="0" presId="urn:microsoft.com/office/officeart/2005/8/layout/process2"/>
    <dgm:cxn modelId="{B03C6F31-4896-450F-AC95-CC4325825F97}" type="presOf" srcId="{458E9450-9B1D-4348-94FC-6E8439DB741B}" destId="{4ECBCC04-EB25-46E3-951F-FD183941C15F}" srcOrd="0" destOrd="0" presId="urn:microsoft.com/office/officeart/2005/8/layout/process2"/>
    <dgm:cxn modelId="{D28541F4-A4EF-4FAF-9552-0E51569C72B4}" type="presParOf" srcId="{7E3F7EC5-1729-4088-BB09-36E02E33A0BF}" destId="{DAFB54E5-84CE-486D-9476-E0A6ABE9436E}" srcOrd="11" destOrd="0" presId="urn:microsoft.com/office/officeart/2005/8/layout/process2"/>
    <dgm:cxn modelId="{0E2B27D7-0DD3-47E1-B3FB-0B24C2EA58A9}" type="presOf" srcId="{BA527698-2946-4930-AF71-1507478C820B}" destId="{DAFB54E5-84CE-486D-9476-E0A6ABE9436E}" srcOrd="0" destOrd="0" presId="urn:microsoft.com/office/officeart/2005/8/layout/process2"/>
    <dgm:cxn modelId="{1B5F40C4-44DF-44ED-B7EF-960628B88343}" type="presParOf" srcId="{DAFB54E5-84CE-486D-9476-E0A6ABE9436E}" destId="{F760B555-A588-4526-991D-22EFF31C4C31}" srcOrd="0" destOrd="11" presId="urn:microsoft.com/office/officeart/2005/8/layout/process2"/>
    <dgm:cxn modelId="{F77645F2-86C8-471F-95EA-2886CD8FB5E3}" type="presOf" srcId="{BA527698-2946-4930-AF71-1507478C820B}" destId="{F760B555-A588-4526-991D-22EFF31C4C31}" srcOrd="1" destOrd="0" presId="urn:microsoft.com/office/officeart/2005/8/layout/process2"/>
    <dgm:cxn modelId="{F4389200-CB68-4EBF-973A-2A676AE8428E}" type="presParOf" srcId="{7E3F7EC5-1729-4088-BB09-36E02E33A0BF}" destId="{BB1790B6-B585-49CF-95F2-A57097E4E39B}" srcOrd="12" destOrd="0" presId="urn:microsoft.com/office/officeart/2005/8/layout/process2"/>
    <dgm:cxn modelId="{132AE858-648B-4492-9E16-98DBB84F8628}" type="presOf" srcId="{6D2AF45D-6869-4F18-AAD2-7B0310CFE628}" destId="{BB1790B6-B585-49CF-95F2-A57097E4E39B}" srcOrd="0" destOrd="0" presId="urn:microsoft.com/office/officeart/2005/8/layout/process2"/>
    <dgm:cxn modelId="{5C324EC7-D4DB-4214-85E5-68CFEF86053D}" type="presParOf" srcId="{7E3F7EC5-1729-4088-BB09-36E02E33A0BF}" destId="{95A60442-638C-4E5B-87F6-59272F5949E7}" srcOrd="13" destOrd="0" presId="urn:microsoft.com/office/officeart/2005/8/layout/process2"/>
    <dgm:cxn modelId="{37515334-A464-43EF-A545-FCFDC3399DAD}" type="presOf" srcId="{418231EC-1EF7-4BDB-86B7-8504988024F7}" destId="{95A60442-638C-4E5B-87F6-59272F5949E7}" srcOrd="0" destOrd="0" presId="urn:microsoft.com/office/officeart/2005/8/layout/process2"/>
    <dgm:cxn modelId="{B3061121-7931-4E8A-B769-3576EE8A3284}" type="presParOf" srcId="{95A60442-638C-4E5B-87F6-59272F5949E7}" destId="{3DA0D194-098C-49F4-9CCA-54E071CA63CA}" srcOrd="0" destOrd="13" presId="urn:microsoft.com/office/officeart/2005/8/layout/process2"/>
    <dgm:cxn modelId="{AB0C8BC6-8345-4CC6-A0BC-DC4F7FBD8AC7}" type="presOf" srcId="{418231EC-1EF7-4BDB-86B7-8504988024F7}" destId="{3DA0D194-098C-49F4-9CCA-54E071CA63CA}" srcOrd="1" destOrd="0" presId="urn:microsoft.com/office/officeart/2005/8/layout/process2"/>
    <dgm:cxn modelId="{3031E9A0-BA1E-4ADB-813F-18502611404B}" type="presParOf" srcId="{7E3F7EC5-1729-4088-BB09-36E02E33A0BF}" destId="{60D14FA2-1E8C-4184-8CA3-534F1FC3CB66}" srcOrd="14" destOrd="0" presId="urn:microsoft.com/office/officeart/2005/8/layout/process2"/>
    <dgm:cxn modelId="{8BCFF0C2-2954-479A-B6F1-CB3BB1D7F38D}" type="presOf" srcId="{45D403AE-9659-4726-B4B1-CE46A8545C32}" destId="{60D14FA2-1E8C-4184-8CA3-534F1FC3CB66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15931E-1654-4B73-89B2-8E333D9C42E0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90DDC401-903F-495B-A387-FFA8A45891F6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探索起步期（2017</a:t>
          </a:r>
          <a:r>
            <a: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2020）</a:t>
          </a:r>
          <a:r>
            <a: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/>
          </a:r>
          <a:endParaRPr lang="zh-CN" altLang="en-US">
            <a:latin typeface="黑体" panose="02010609060101010101" charset="-122"/>
            <a:ea typeface="黑体" panose="02010609060101010101" charset="-122"/>
            <a:cs typeface="黑体" panose="02010609060101010101" charset="-122"/>
          </a:endParaRPr>
        </a:p>
      </dgm:t>
    </dgm:pt>
    <dgm:pt modelId="{C8BB0B8A-C63A-4F83-B8DD-3A7CE259E4EE}" cxnId="{9A187D77-3F3C-4ED2-A66D-5AE40BADADFE}" type="parTrans">
      <dgm:prSet/>
      <dgm:spPr/>
      <dgm:t>
        <a:bodyPr/>
        <a:p>
          <a:endParaRPr lang="zh-CN" altLang="en-US"/>
        </a:p>
      </dgm:t>
    </dgm:pt>
    <dgm:pt modelId="{35E5E878-0907-4014-9CFA-56AEFE6C22E5}" cxnId="{9A187D77-3F3C-4ED2-A66D-5AE40BADADFE}" type="sibTrans">
      <dgm:prSet/>
      <dgm:spPr/>
      <dgm:t>
        <a:bodyPr/>
        <a:p>
          <a:endParaRPr lang="zh-CN" altLang="en-US"/>
        </a:p>
      </dgm:t>
    </dgm:pt>
    <dgm:pt modelId="{E08CEB0C-E37F-4DCA-A8EA-4B2CD3AD7754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发文量增长缓慢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FB4BCC77-44E9-4065-8A2F-90CD32DE34E3}" cxnId="{ECFE50B2-71A1-4639-B5F3-2F5E4A8BAF94}" type="parTrans">
      <dgm:prSet/>
      <dgm:spPr/>
      <dgm:t>
        <a:bodyPr/>
        <a:p>
          <a:endParaRPr lang="zh-CN" altLang="en-US"/>
        </a:p>
      </dgm:t>
    </dgm:pt>
    <dgm:pt modelId="{41FED480-3E2E-47A2-B997-02D527BC8082}" cxnId="{ECFE50B2-71A1-4639-B5F3-2F5E4A8BAF94}" type="sibTrans">
      <dgm:prSet/>
      <dgm:spPr/>
      <dgm:t>
        <a:bodyPr/>
        <a:p>
          <a:endParaRPr lang="zh-CN" altLang="en-US"/>
        </a:p>
      </dgm:t>
    </dgm:pt>
    <dgm:pt modelId="{A1D4D3E9-706E-4A5A-BEDE-02E3C665D3C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研究以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LSTM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可行性验证为主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8558AB9C-A0D2-48D5-A8F8-27B84C2028C8}" cxnId="{235B95A0-4E52-4CD3-923A-1AFA25B89837}" type="parTrans">
      <dgm:prSet/>
      <dgm:spPr/>
    </dgm:pt>
    <dgm:pt modelId="{C24CA47A-242A-4DD0-AE40-E38EDD6DC698}" cxnId="{235B95A0-4E52-4CD3-923A-1AFA25B89837}" type="sibTrans">
      <dgm:prSet/>
      <dgm:spPr/>
    </dgm:pt>
    <dgm:pt modelId="{7B835025-6E5E-4A94-B7E6-F45FFF0E3A6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领域处于技术积累阶段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61CD9091-59B5-405F-8AFF-3639A09DF9A2}" cxnId="{4CCE2FEE-C63F-40B3-839A-51BD88EA62C9}" type="parTrans">
      <dgm:prSet/>
      <dgm:spPr/>
    </dgm:pt>
    <dgm:pt modelId="{27B3B776-21B7-4913-92B3-DA148DB91F6C}" cxnId="{4CCE2FEE-C63F-40B3-839A-51BD88EA62C9}" type="sibTrans">
      <dgm:prSet/>
      <dgm:spPr/>
    </dgm:pt>
    <dgm:pt modelId="{A6685E83-BEEC-49B3-B40A-539E2C0D7A1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</a:rPr>
            <a:t>快速发展期（2021</a:t>
          </a:r>
          <a:r>
            <a:rPr lang="en-US" altLang="zh-CN">
              <a:latin typeface="黑体" panose="02010609060101010101" charset="-122"/>
              <a:ea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>2023）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/>
          </a:r>
          <a:endParaRPr lang="zh-CN" altLang="en-US">
            <a:latin typeface="黑体" panose="02010609060101010101" charset="-122"/>
            <a:ea typeface="黑体" panose="02010609060101010101" charset="-122"/>
          </a:endParaRPr>
        </a:p>
      </dgm:t>
    </dgm:pt>
    <dgm:pt modelId="{FECC43A3-D59E-4EE1-9557-8FBB90D5B362}" cxnId="{18C16FBB-9D85-43DA-9F57-B4C0A4E3C92A}" type="parTrans">
      <dgm:prSet/>
      <dgm:spPr/>
      <dgm:t>
        <a:bodyPr/>
        <a:p>
          <a:endParaRPr lang="zh-CN" altLang="en-US"/>
        </a:p>
      </dgm:t>
    </dgm:pt>
    <dgm:pt modelId="{68BB6C9A-B7F0-43A0-955B-FC8C4D4009BF}" cxnId="{18C16FBB-9D85-43DA-9F57-B4C0A4E3C92A}" type="sibTrans">
      <dgm:prSet/>
      <dgm:spPr/>
      <dgm:t>
        <a:bodyPr/>
        <a:p>
          <a:endParaRPr lang="zh-CN" altLang="en-US"/>
        </a:p>
      </dgm:t>
    </dgm:pt>
    <dgm:pt modelId="{CBA50553-63FA-4B5A-9888-EDDBA06CA593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发文量显著增长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73E2772F-165D-4B56-ACC2-969CBF53B0A8}" cxnId="{9DB4E362-18FE-47FF-AA7E-AC95C1FFAAD3}" type="parTrans">
      <dgm:prSet/>
      <dgm:spPr/>
      <dgm:t>
        <a:bodyPr/>
        <a:p>
          <a:endParaRPr lang="zh-CN" altLang="en-US"/>
        </a:p>
      </dgm:t>
    </dgm:pt>
    <dgm:pt modelId="{7BFD1607-7356-4D3D-A829-75D002A3A4B0}" cxnId="{9DB4E362-18FE-47FF-AA7E-AC95C1FFAAD3}" type="sibTrans">
      <dgm:prSet/>
      <dgm:spPr/>
      <dgm:t>
        <a:bodyPr/>
        <a:p>
          <a:endParaRPr lang="zh-CN" altLang="en-US"/>
        </a:p>
      </dgm:t>
    </dgm:pt>
    <dgm:pt modelId="{BC716004-0056-4368-8CCB-03A6A6DB80A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LSTM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开始与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BiLSTM、CNN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等模型结合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7C107FBE-BACC-4014-B6DD-F81B23560AF3}" cxnId="{4EC4C6B1-BCBB-4325-AFD1-C37772A9C3E9}" type="parTrans">
      <dgm:prSet/>
      <dgm:spPr/>
    </dgm:pt>
    <dgm:pt modelId="{C9584354-AB96-4FB3-93D2-83121A3B1045}" cxnId="{4EC4C6B1-BCBB-4325-AFD1-C37772A9C3E9}" type="sibTrans">
      <dgm:prSet/>
      <dgm:spPr/>
    </dgm:pt>
    <dgm:pt modelId="{6DC0BD73-98B0-405C-98B7-831F8CD8679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研究关注度快速提升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CC3F2619-F9A5-49C6-9BC1-4DE1B37A446E}" cxnId="{8BC9BB81-5B2F-48D1-BE22-0BF20AEC44B6}" type="parTrans">
      <dgm:prSet/>
      <dgm:spPr/>
    </dgm:pt>
    <dgm:pt modelId="{76A5DBBC-1BDB-41A3-987D-37E32923808D}" cxnId="{8BC9BB81-5B2F-48D1-BE22-0BF20AEC44B6}" type="sibTrans">
      <dgm:prSet/>
      <dgm:spPr/>
    </dgm:pt>
    <dgm:pt modelId="{C8DDDFA1-AF37-4444-AAEB-D51CEE212719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</a:rPr>
            <a:t>融合创新期（2024</a:t>
          </a:r>
          <a:r>
            <a:rPr lang="en-US" altLang="zh-CN">
              <a:latin typeface="黑体" panose="02010609060101010101" charset="-122"/>
              <a:ea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>2025）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/>
          </a:r>
          <a:endParaRPr lang="zh-CN" altLang="en-US">
            <a:latin typeface="黑体" panose="02010609060101010101" charset="-122"/>
            <a:ea typeface="黑体" panose="02010609060101010101" charset="-122"/>
          </a:endParaRPr>
        </a:p>
      </dgm:t>
    </dgm:pt>
    <dgm:pt modelId="{26EA520A-5891-4EBA-B2AD-1840663D8C07}" cxnId="{00457E65-DEB5-4C8A-B1F3-29E30C3DBE36}" type="parTrans">
      <dgm:prSet/>
      <dgm:spPr/>
      <dgm:t>
        <a:bodyPr/>
        <a:p>
          <a:endParaRPr lang="zh-CN" altLang="en-US"/>
        </a:p>
      </dgm:t>
    </dgm:pt>
    <dgm:pt modelId="{CE2287C8-6424-4771-88FD-4DADE15C5A04}" cxnId="{00457E65-DEB5-4C8A-B1F3-29E30C3DBE36}" type="sibTrans">
      <dgm:prSet/>
      <dgm:spPr/>
      <dgm:t>
        <a:bodyPr/>
        <a:p>
          <a:endParaRPr lang="zh-CN" altLang="en-US"/>
        </a:p>
      </dgm:t>
    </dgm:pt>
    <dgm:pt modelId="{5AA02751-379E-46DB-884A-F23ACBC498EE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发文量再次大幅增长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D0D77647-95BE-4607-B2F0-006D9CAB8F0E}" cxnId="{9EC1914F-C200-4C4B-9A67-9FC292AE6C61}" type="parTrans">
      <dgm:prSet/>
      <dgm:spPr/>
      <dgm:t>
        <a:bodyPr/>
        <a:p>
          <a:endParaRPr lang="zh-CN" altLang="en-US"/>
        </a:p>
      </dgm:t>
    </dgm:pt>
    <dgm:pt modelId="{3DBF6B9F-A188-4D67-ABE8-0633561FA9E5}" cxnId="{9EC1914F-C200-4C4B-9A67-9FC292AE6C61}" type="sibTrans">
      <dgm:prSet/>
      <dgm:spPr/>
      <dgm:t>
        <a:bodyPr/>
        <a:p>
          <a:endParaRPr lang="zh-CN" altLang="en-US"/>
        </a:p>
      </dgm:t>
    </dgm:pt>
    <dgm:pt modelId="{C592F726-3230-4B78-B318-7D2F05CAA87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Transformer、Attention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等新技术不断融入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C0D49F45-6214-424B-8E90-F2D7E9BAF8B2}" cxnId="{B8825AE2-3135-42FD-BDC2-FD8253FE82F7}" type="parTrans">
      <dgm:prSet/>
      <dgm:spPr/>
    </dgm:pt>
    <dgm:pt modelId="{AFC1E3E4-F622-4721-91F5-688320233CB1}" cxnId="{B8825AE2-3135-42FD-BDC2-FD8253FE82F7}" type="sibTrans">
      <dgm:prSet/>
      <dgm:spPr/>
    </dgm:pt>
    <dgm:pt modelId="{29987631-A910-4440-8FC2-AD18AD5CD575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研究进入技术融合与场景扩展阶段</a:t>
          </a:r>
          <a:r>
            <a:rPr lang="zh-CN" altLang="en-US" sz="15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5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7A0F7175-400C-46BE-AC5A-714D4ACA01C0}" cxnId="{9D5B3EE9-60BA-45E0-A133-BC416753DA7F}" type="parTrans">
      <dgm:prSet/>
      <dgm:spPr/>
    </dgm:pt>
    <dgm:pt modelId="{CEEEE505-5F32-4125-9A4E-A422DF76D80C}" cxnId="{9D5B3EE9-60BA-45E0-A133-BC416753DA7F}" type="sibTrans">
      <dgm:prSet/>
      <dgm:spPr/>
    </dgm:pt>
    <dgm:pt modelId="{D5935282-3C7C-4F88-A1AE-C27DB8591514}" type="pres">
      <dgm:prSet presAssocID="{2E15931E-1654-4B73-89B2-8E333D9C42E0}" presName="Name0" presStyleCnt="0">
        <dgm:presLayoutVars>
          <dgm:dir/>
          <dgm:animLvl val="lvl"/>
          <dgm:resizeHandles val="exact"/>
        </dgm:presLayoutVars>
      </dgm:prSet>
      <dgm:spPr/>
    </dgm:pt>
    <dgm:pt modelId="{E61486FD-113E-4C87-8ADF-B1A8E2A84801}" type="pres">
      <dgm:prSet presAssocID="{90DDC401-903F-495B-A387-FFA8A45891F6}" presName="linNode" presStyleCnt="0"/>
      <dgm:spPr/>
    </dgm:pt>
    <dgm:pt modelId="{96BE2B31-D87C-43E1-BE64-4C27B13F4AA4}" type="pres">
      <dgm:prSet presAssocID="{90DDC401-903F-495B-A387-FFA8A45891F6}" presName="parentText" presStyleLbl="node1" presStyleIdx="0" presStyleCnt="3" custScaleX="84505" custScaleY="77097">
        <dgm:presLayoutVars>
          <dgm:chMax val="1"/>
          <dgm:bulletEnabled val="1"/>
        </dgm:presLayoutVars>
      </dgm:prSet>
      <dgm:spPr/>
    </dgm:pt>
    <dgm:pt modelId="{DD9406C3-FC80-4468-A55B-122D744D43F0}" type="pres">
      <dgm:prSet presAssocID="{90DDC401-903F-495B-A387-FFA8A45891F6}" presName="descendantText" presStyleLbl="alignAccFollowNode1" presStyleIdx="0" presStyleCnt="3" custScaleX="106182">
        <dgm:presLayoutVars>
          <dgm:bulletEnabled val="1"/>
        </dgm:presLayoutVars>
      </dgm:prSet>
      <dgm:spPr/>
    </dgm:pt>
    <dgm:pt modelId="{F1941F29-E51C-4282-956D-50CFAFAEB9B8}" type="pres">
      <dgm:prSet presAssocID="{35E5E878-0907-4014-9CFA-56AEFE6C22E5}" presName="sp" presStyleCnt="0"/>
      <dgm:spPr/>
    </dgm:pt>
    <dgm:pt modelId="{B589D1EC-5156-4FB2-BB1C-8E1290A868B9}" type="pres">
      <dgm:prSet presAssocID="{A6685E83-BEEC-49B3-B40A-539E2C0D7A1A}" presName="linNode" presStyleCnt="0"/>
      <dgm:spPr/>
    </dgm:pt>
    <dgm:pt modelId="{EBD335B5-8308-49CB-9630-99D852747B1F}" type="pres">
      <dgm:prSet presAssocID="{A6685E83-BEEC-49B3-B40A-539E2C0D7A1A}" presName="parentText" presStyleLbl="node1" presStyleIdx="1" presStyleCnt="3" custScaleX="86415" custScaleY="83020">
        <dgm:presLayoutVars>
          <dgm:chMax val="1"/>
          <dgm:bulletEnabled val="1"/>
        </dgm:presLayoutVars>
      </dgm:prSet>
      <dgm:spPr/>
    </dgm:pt>
    <dgm:pt modelId="{6EB2A58E-CA03-4F76-94B6-D8FE50231963}" type="pres">
      <dgm:prSet presAssocID="{A6685E83-BEEC-49B3-B40A-539E2C0D7A1A}" presName="descendantText" presStyleLbl="alignAccFollowNode1" presStyleIdx="1" presStyleCnt="3" custScaleX="105246">
        <dgm:presLayoutVars>
          <dgm:bulletEnabled val="1"/>
        </dgm:presLayoutVars>
      </dgm:prSet>
      <dgm:spPr/>
    </dgm:pt>
    <dgm:pt modelId="{A76EE5BB-CBA4-4DD9-BFB7-3F3F246C9BF0}" type="pres">
      <dgm:prSet presAssocID="{68BB6C9A-B7F0-43A0-955B-FC8C4D4009BF}" presName="sp" presStyleCnt="0"/>
      <dgm:spPr/>
    </dgm:pt>
    <dgm:pt modelId="{2BB2A428-FB05-47E5-AC5F-C6A7936A9AC0}" type="pres">
      <dgm:prSet presAssocID="{C8DDDFA1-AF37-4444-AAEB-D51CEE212719}" presName="linNode" presStyleCnt="0"/>
      <dgm:spPr/>
    </dgm:pt>
    <dgm:pt modelId="{B093CE78-670B-40EB-95CF-315E334D550F}" type="pres">
      <dgm:prSet presAssocID="{C8DDDFA1-AF37-4444-AAEB-D51CEE212719}" presName="parentText" presStyleLbl="node1" presStyleIdx="2" presStyleCnt="3" custScaleX="87576" custScaleY="81863">
        <dgm:presLayoutVars>
          <dgm:chMax val="1"/>
          <dgm:bulletEnabled val="1"/>
        </dgm:presLayoutVars>
      </dgm:prSet>
      <dgm:spPr/>
    </dgm:pt>
    <dgm:pt modelId="{64028F0D-BE57-4642-92F7-303D4E45C524}" type="pres">
      <dgm:prSet presAssocID="{C8DDDFA1-AF37-4444-AAEB-D51CEE212719}" presName="descendantText" presStyleLbl="alignAccFollowNode1" presStyleIdx="2" presStyleCnt="3" custScaleX="104414">
        <dgm:presLayoutVars>
          <dgm:bulletEnabled val="1"/>
        </dgm:presLayoutVars>
      </dgm:prSet>
      <dgm:spPr/>
    </dgm:pt>
  </dgm:ptLst>
  <dgm:cxnLst>
    <dgm:cxn modelId="{9A187D77-3F3C-4ED2-A66D-5AE40BADADFE}" srcId="{2E15931E-1654-4B73-89B2-8E333D9C42E0}" destId="{90DDC401-903F-495B-A387-FFA8A45891F6}" srcOrd="0" destOrd="0" parTransId="{C8BB0B8A-C63A-4F83-B8DD-3A7CE259E4EE}" sibTransId="{35E5E878-0907-4014-9CFA-56AEFE6C22E5}"/>
    <dgm:cxn modelId="{ECFE50B2-71A1-4639-B5F3-2F5E4A8BAF94}" srcId="{90DDC401-903F-495B-A387-FFA8A45891F6}" destId="{E08CEB0C-E37F-4DCA-A8EA-4B2CD3AD7754}" srcOrd="0" destOrd="0" parTransId="{FB4BCC77-44E9-4065-8A2F-90CD32DE34E3}" sibTransId="{41FED480-3E2E-47A2-B997-02D527BC8082}"/>
    <dgm:cxn modelId="{235B95A0-4E52-4CD3-923A-1AFA25B89837}" srcId="{90DDC401-903F-495B-A387-FFA8A45891F6}" destId="{A1D4D3E9-706E-4A5A-BEDE-02E3C665D3CC}" srcOrd="1" destOrd="0" parTransId="{8558AB9C-A0D2-48D5-A8F8-27B84C2028C8}" sibTransId="{C24CA47A-242A-4DD0-AE40-E38EDD6DC698}"/>
    <dgm:cxn modelId="{4CCE2FEE-C63F-40B3-839A-51BD88EA62C9}" srcId="{90DDC401-903F-495B-A387-FFA8A45891F6}" destId="{7B835025-6E5E-4A94-B7E6-F45FFF0E3A69}" srcOrd="2" destOrd="0" parTransId="{61CD9091-59B5-405F-8AFF-3639A09DF9A2}" sibTransId="{27B3B776-21B7-4913-92B3-DA148DB91F6C}"/>
    <dgm:cxn modelId="{18C16FBB-9D85-43DA-9F57-B4C0A4E3C92A}" srcId="{2E15931E-1654-4B73-89B2-8E333D9C42E0}" destId="{A6685E83-BEEC-49B3-B40A-539E2C0D7A1A}" srcOrd="1" destOrd="0" parTransId="{FECC43A3-D59E-4EE1-9557-8FBB90D5B362}" sibTransId="{68BB6C9A-B7F0-43A0-955B-FC8C4D4009BF}"/>
    <dgm:cxn modelId="{9DB4E362-18FE-47FF-AA7E-AC95C1FFAAD3}" srcId="{A6685E83-BEEC-49B3-B40A-539E2C0D7A1A}" destId="{CBA50553-63FA-4B5A-9888-EDDBA06CA593}" srcOrd="0" destOrd="1" parTransId="{73E2772F-165D-4B56-ACC2-969CBF53B0A8}" sibTransId="{7BFD1607-7356-4D3D-A829-75D002A3A4B0}"/>
    <dgm:cxn modelId="{4EC4C6B1-BCBB-4325-AFD1-C37772A9C3E9}" srcId="{A6685E83-BEEC-49B3-B40A-539E2C0D7A1A}" destId="{BC716004-0056-4368-8CCB-03A6A6DB80A3}" srcOrd="1" destOrd="1" parTransId="{7C107FBE-BACC-4014-B6DD-F81B23560AF3}" sibTransId="{C9584354-AB96-4FB3-93D2-83121A3B1045}"/>
    <dgm:cxn modelId="{8BC9BB81-5B2F-48D1-BE22-0BF20AEC44B6}" srcId="{A6685E83-BEEC-49B3-B40A-539E2C0D7A1A}" destId="{6DC0BD73-98B0-405C-98B7-831F8CD86793}" srcOrd="2" destOrd="1" parTransId="{CC3F2619-F9A5-49C6-9BC1-4DE1B37A446E}" sibTransId="{76A5DBBC-1BDB-41A3-987D-37E32923808D}"/>
    <dgm:cxn modelId="{00457E65-DEB5-4C8A-B1F3-29E30C3DBE36}" srcId="{2E15931E-1654-4B73-89B2-8E333D9C42E0}" destId="{C8DDDFA1-AF37-4444-AAEB-D51CEE212719}" srcOrd="2" destOrd="0" parTransId="{26EA520A-5891-4EBA-B2AD-1840663D8C07}" sibTransId="{CE2287C8-6424-4771-88FD-4DADE15C5A04}"/>
    <dgm:cxn modelId="{9EC1914F-C200-4C4B-9A67-9FC292AE6C61}" srcId="{C8DDDFA1-AF37-4444-AAEB-D51CEE212719}" destId="{5AA02751-379E-46DB-884A-F23ACBC498EE}" srcOrd="0" destOrd="2" parTransId="{D0D77647-95BE-4607-B2F0-006D9CAB8F0E}" sibTransId="{3DBF6B9F-A188-4D67-ABE8-0633561FA9E5}"/>
    <dgm:cxn modelId="{B8825AE2-3135-42FD-BDC2-FD8253FE82F7}" srcId="{C8DDDFA1-AF37-4444-AAEB-D51CEE212719}" destId="{C592F726-3230-4B78-B318-7D2F05CAA87D}" srcOrd="1" destOrd="2" parTransId="{C0D49F45-6214-424B-8E90-F2D7E9BAF8B2}" sibTransId="{AFC1E3E4-F622-4721-91F5-688320233CB1}"/>
    <dgm:cxn modelId="{9D5B3EE9-60BA-45E0-A133-BC416753DA7F}" srcId="{C8DDDFA1-AF37-4444-AAEB-D51CEE212719}" destId="{29987631-A910-4440-8FC2-AD18AD5CD575}" srcOrd="2" destOrd="2" parTransId="{7A0F7175-400C-46BE-AC5A-714D4ACA01C0}" sibTransId="{CEEEE505-5F32-4125-9A4E-A422DF76D80C}"/>
    <dgm:cxn modelId="{75641E0E-D65E-4D65-9E23-0D421DE310BD}" type="presOf" srcId="{2E15931E-1654-4B73-89B2-8E333D9C42E0}" destId="{D5935282-3C7C-4F88-A1AE-C27DB8591514}" srcOrd="0" destOrd="0" presId="urn:microsoft.com/office/officeart/2005/8/layout/vList5"/>
    <dgm:cxn modelId="{071D65A2-7A19-4745-BA0A-FECBB21737E3}" type="presParOf" srcId="{D5935282-3C7C-4F88-A1AE-C27DB8591514}" destId="{E61486FD-113E-4C87-8ADF-B1A8E2A84801}" srcOrd="0" destOrd="0" presId="urn:microsoft.com/office/officeart/2005/8/layout/vList5"/>
    <dgm:cxn modelId="{4D4FA796-626F-49F1-8EEF-C224905727AA}" type="presParOf" srcId="{E61486FD-113E-4C87-8ADF-B1A8E2A84801}" destId="{96BE2B31-D87C-43E1-BE64-4C27B13F4AA4}" srcOrd="0" destOrd="0" presId="urn:microsoft.com/office/officeart/2005/8/layout/vList5"/>
    <dgm:cxn modelId="{04F5C2B8-4DE1-4A44-B369-C9A79DF5096A}" type="presOf" srcId="{90DDC401-903F-495B-A387-FFA8A45891F6}" destId="{96BE2B31-D87C-43E1-BE64-4C27B13F4AA4}" srcOrd="0" destOrd="0" presId="urn:microsoft.com/office/officeart/2005/8/layout/vList5"/>
    <dgm:cxn modelId="{01190EC3-5A08-438A-A7DD-B18A548BD1EA}" type="presParOf" srcId="{E61486FD-113E-4C87-8ADF-B1A8E2A84801}" destId="{DD9406C3-FC80-4468-A55B-122D744D43F0}" srcOrd="1" destOrd="0" presId="urn:microsoft.com/office/officeart/2005/8/layout/vList5"/>
    <dgm:cxn modelId="{69B630A9-0751-404D-BFA0-DFF266F6932B}" type="presOf" srcId="{E08CEB0C-E37F-4DCA-A8EA-4B2CD3AD7754}" destId="{DD9406C3-FC80-4468-A55B-122D744D43F0}" srcOrd="0" destOrd="0" presId="urn:microsoft.com/office/officeart/2005/8/layout/vList5"/>
    <dgm:cxn modelId="{DE5A9CC6-1A04-4192-B6A6-A0C75215AFD7}" type="presOf" srcId="{A1D4D3E9-706E-4A5A-BEDE-02E3C665D3CC}" destId="{DD9406C3-FC80-4468-A55B-122D744D43F0}" srcOrd="0" destOrd="1" presId="urn:microsoft.com/office/officeart/2005/8/layout/vList5"/>
    <dgm:cxn modelId="{960E4F1C-64E9-4C7D-B6A2-40A677DF7491}" type="presOf" srcId="{7B835025-6E5E-4A94-B7E6-F45FFF0E3A69}" destId="{DD9406C3-FC80-4468-A55B-122D744D43F0}" srcOrd="0" destOrd="2" presId="urn:microsoft.com/office/officeart/2005/8/layout/vList5"/>
    <dgm:cxn modelId="{552D1A19-0ED3-43B1-9A84-B33E5FB2EF4E}" type="presParOf" srcId="{D5935282-3C7C-4F88-A1AE-C27DB8591514}" destId="{F1941F29-E51C-4282-956D-50CFAFAEB9B8}" srcOrd="1" destOrd="0" presId="urn:microsoft.com/office/officeart/2005/8/layout/vList5"/>
    <dgm:cxn modelId="{79E81312-6F19-4089-8339-F8B58A1D5329}" type="presParOf" srcId="{D5935282-3C7C-4F88-A1AE-C27DB8591514}" destId="{B589D1EC-5156-4FB2-BB1C-8E1290A868B9}" srcOrd="2" destOrd="0" presId="urn:microsoft.com/office/officeart/2005/8/layout/vList5"/>
    <dgm:cxn modelId="{FEA49CBB-4E1D-446A-A6D3-940CE45F81D6}" type="presParOf" srcId="{B589D1EC-5156-4FB2-BB1C-8E1290A868B9}" destId="{EBD335B5-8308-49CB-9630-99D852747B1F}" srcOrd="0" destOrd="2" presId="urn:microsoft.com/office/officeart/2005/8/layout/vList5"/>
    <dgm:cxn modelId="{D87B710E-CA16-47FF-AB4E-D30C384D57E1}" type="presOf" srcId="{A6685E83-BEEC-49B3-B40A-539E2C0D7A1A}" destId="{EBD335B5-8308-49CB-9630-99D852747B1F}" srcOrd="0" destOrd="0" presId="urn:microsoft.com/office/officeart/2005/8/layout/vList5"/>
    <dgm:cxn modelId="{A4A4CCE6-88DD-4ABA-94F6-47914E41BACB}" type="presParOf" srcId="{B589D1EC-5156-4FB2-BB1C-8E1290A868B9}" destId="{6EB2A58E-CA03-4F76-94B6-D8FE50231963}" srcOrd="1" destOrd="2" presId="urn:microsoft.com/office/officeart/2005/8/layout/vList5"/>
    <dgm:cxn modelId="{F2F20743-D2C8-40AE-87C2-6286EE32A753}" type="presOf" srcId="{CBA50553-63FA-4B5A-9888-EDDBA06CA593}" destId="{6EB2A58E-CA03-4F76-94B6-D8FE50231963}" srcOrd="0" destOrd="0" presId="urn:microsoft.com/office/officeart/2005/8/layout/vList5"/>
    <dgm:cxn modelId="{FFFBF08A-0F7E-4849-9A48-3AA51E41D2C0}" type="presOf" srcId="{BC716004-0056-4368-8CCB-03A6A6DB80A3}" destId="{6EB2A58E-CA03-4F76-94B6-D8FE50231963}" srcOrd="0" destOrd="1" presId="urn:microsoft.com/office/officeart/2005/8/layout/vList5"/>
    <dgm:cxn modelId="{8604D8C0-577D-4082-8C16-CC4BCF482B5D}" type="presOf" srcId="{6DC0BD73-98B0-405C-98B7-831F8CD86793}" destId="{6EB2A58E-CA03-4F76-94B6-D8FE50231963}" srcOrd="0" destOrd="2" presId="urn:microsoft.com/office/officeart/2005/8/layout/vList5"/>
    <dgm:cxn modelId="{04025785-0347-4264-8E0E-248EF20A65DD}" type="presParOf" srcId="{D5935282-3C7C-4F88-A1AE-C27DB8591514}" destId="{A76EE5BB-CBA4-4DD9-BFB7-3F3F246C9BF0}" srcOrd="3" destOrd="0" presId="urn:microsoft.com/office/officeart/2005/8/layout/vList5"/>
    <dgm:cxn modelId="{A23D1138-146A-45FF-A0D4-38BC86D6B248}" type="presParOf" srcId="{D5935282-3C7C-4F88-A1AE-C27DB8591514}" destId="{2BB2A428-FB05-47E5-AC5F-C6A7936A9AC0}" srcOrd="4" destOrd="0" presId="urn:microsoft.com/office/officeart/2005/8/layout/vList5"/>
    <dgm:cxn modelId="{A2CAE1AA-55EE-45A5-A5E5-1F1AA2A177E0}" type="presParOf" srcId="{2BB2A428-FB05-47E5-AC5F-C6A7936A9AC0}" destId="{B093CE78-670B-40EB-95CF-315E334D550F}" srcOrd="0" destOrd="4" presId="urn:microsoft.com/office/officeart/2005/8/layout/vList5"/>
    <dgm:cxn modelId="{B2F4DE8D-E651-4A8A-8951-2C1E3D2CFC5D}" type="presOf" srcId="{C8DDDFA1-AF37-4444-AAEB-D51CEE212719}" destId="{B093CE78-670B-40EB-95CF-315E334D550F}" srcOrd="0" destOrd="0" presId="urn:microsoft.com/office/officeart/2005/8/layout/vList5"/>
    <dgm:cxn modelId="{E48D3AF8-6193-4721-9FE8-0B641A4443C4}" type="presParOf" srcId="{2BB2A428-FB05-47E5-AC5F-C6A7936A9AC0}" destId="{64028F0D-BE57-4642-92F7-303D4E45C524}" srcOrd="1" destOrd="4" presId="urn:microsoft.com/office/officeart/2005/8/layout/vList5"/>
    <dgm:cxn modelId="{8721E2A3-FF24-47FA-911B-23937ADCAC3E}" type="presOf" srcId="{5AA02751-379E-46DB-884A-F23ACBC498EE}" destId="{64028F0D-BE57-4642-92F7-303D4E45C524}" srcOrd="0" destOrd="0" presId="urn:microsoft.com/office/officeart/2005/8/layout/vList5"/>
    <dgm:cxn modelId="{DE99D11B-12F2-433D-AA6A-AD0B2FBE4D88}" type="presOf" srcId="{C592F726-3230-4B78-B318-7D2F05CAA87D}" destId="{64028F0D-BE57-4642-92F7-303D4E45C524}" srcOrd="0" destOrd="1" presId="urn:microsoft.com/office/officeart/2005/8/layout/vList5"/>
    <dgm:cxn modelId="{1B712DEA-7323-413B-A0F0-2A9089D2FBE7}" type="presOf" srcId="{29987631-A910-4440-8FC2-AD18AD5CD575}" destId="{64028F0D-BE57-4642-92F7-303D4E45C524}" srcOrd="0" destOrd="2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059940" cy="4274820"/>
        <a:chOff x="0" y="0"/>
        <a:chExt cx="2059940" cy="4274820"/>
      </a:xfrm>
    </dsp:grpSpPr>
    <dsp:sp modelId="{E17E57AF-0587-449A-A755-B1B96DEF2BD2}">
      <dsp:nvSpPr>
        <dsp:cNvPr id="3" name="圆角矩形 2"/>
        <dsp:cNvSpPr/>
      </dsp:nvSpPr>
      <dsp:spPr bwMode="white">
        <a:xfrm>
          <a:off x="390207" y="0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文献检索</a:t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0"/>
        <a:ext cx="1279525" cy="371723"/>
      </dsp:txXfrm>
    </dsp:sp>
    <dsp:sp modelId="{11477A19-6F59-488F-BD44-5E3FBE8E3386}">
      <dsp:nvSpPr>
        <dsp:cNvPr id="4" name="右箭头 3"/>
        <dsp:cNvSpPr/>
      </dsp:nvSpPr>
      <dsp:spPr bwMode="white">
        <a:xfrm rot="5399999">
          <a:off x="960272" y="381017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0"/>
            <a:satOff val="0"/>
            <a:lumOff val="0"/>
            <a:alpha val="100000"/>
          </a:schemeClr>
        </a:lnRef>
        <a:fillRef idx="1">
          <a:schemeClr val="accent1">
            <a:shade val="9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381017"/>
        <a:ext cx="139396" cy="167276"/>
      </dsp:txXfrm>
    </dsp:sp>
    <dsp:sp modelId="{353C71C7-5E8B-4565-86BF-B755B524B25E}">
      <dsp:nvSpPr>
        <dsp:cNvPr id="5" name="圆角矩形 4"/>
        <dsp:cNvSpPr/>
      </dsp:nvSpPr>
      <dsp:spPr bwMode="white">
        <a:xfrm>
          <a:off x="390207" y="557585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4482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数据清洗</a:t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557585"/>
        <a:ext cx="1279525" cy="371723"/>
      </dsp:txXfrm>
    </dsp:sp>
    <dsp:sp modelId="{06ECC167-6368-4F79-84C6-65D90B9BC4A6}">
      <dsp:nvSpPr>
        <dsp:cNvPr id="6" name="右箭头 5"/>
        <dsp:cNvSpPr/>
      </dsp:nvSpPr>
      <dsp:spPr bwMode="white">
        <a:xfrm rot="5399999">
          <a:off x="960272" y="938602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169999"/>
            <a:satOff val="-13267"/>
            <a:lumOff val="9085"/>
            <a:alpha val="100000"/>
          </a:schemeClr>
        </a:lnRef>
        <a:fillRef idx="1">
          <a:schemeClr val="accent1">
            <a:shade val="90000"/>
            <a:hueOff val="169999"/>
            <a:satOff val="-13267"/>
            <a:lumOff val="908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938602"/>
        <a:ext cx="139396" cy="167276"/>
      </dsp:txXfrm>
    </dsp:sp>
    <dsp:sp modelId="{93DEFB83-998E-4F52-9267-01422D869D93}">
      <dsp:nvSpPr>
        <dsp:cNvPr id="7" name="圆角矩形 6"/>
        <dsp:cNvSpPr/>
      </dsp:nvSpPr>
      <dsp:spPr bwMode="white">
        <a:xfrm>
          <a:off x="390207" y="1115170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8768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数据标准化</a:t>
          </a:r>
          <a:endParaRPr lang="zh-CN"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1115170"/>
        <a:ext cx="1279525" cy="371723"/>
      </dsp:txXfrm>
    </dsp:sp>
    <dsp:sp modelId="{F467ED95-40E4-4988-8595-9BD6955C3CB6}">
      <dsp:nvSpPr>
        <dsp:cNvPr id="8" name="右箭头 7"/>
        <dsp:cNvSpPr/>
      </dsp:nvSpPr>
      <dsp:spPr bwMode="white">
        <a:xfrm rot="5399999">
          <a:off x="960272" y="1496187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339999"/>
            <a:satOff val="-26535"/>
            <a:lumOff val="18170"/>
            <a:alpha val="100000"/>
          </a:schemeClr>
        </a:lnRef>
        <a:fillRef idx="1">
          <a:schemeClr val="accent1">
            <a:shade val="90000"/>
            <a:hueOff val="339999"/>
            <a:satOff val="-26535"/>
            <a:lumOff val="1817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1496187"/>
        <a:ext cx="139396" cy="167276"/>
      </dsp:txXfrm>
    </dsp:sp>
    <dsp:sp modelId="{E2D03EED-D244-4640-9BB2-647386AF0621}">
      <dsp:nvSpPr>
        <dsp:cNvPr id="9" name="圆角矩形 8"/>
        <dsp:cNvSpPr/>
      </dsp:nvSpPr>
      <dsp:spPr bwMode="white">
        <a:xfrm>
          <a:off x="390207" y="1672756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305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频次统计</a:t>
          </a:r>
          <a:endParaRPr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1672756"/>
        <a:ext cx="1279525" cy="371723"/>
      </dsp:txXfrm>
    </dsp:sp>
    <dsp:sp modelId="{914055C9-8EA5-48C1-B66E-506F28439449}">
      <dsp:nvSpPr>
        <dsp:cNvPr id="10" name="右箭头 9"/>
        <dsp:cNvSpPr/>
      </dsp:nvSpPr>
      <dsp:spPr bwMode="white">
        <a:xfrm rot="5399999">
          <a:off x="960272" y="2053772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510000"/>
            <a:satOff val="-39803"/>
            <a:lumOff val="27255"/>
            <a:alpha val="100000"/>
          </a:schemeClr>
        </a:lnRef>
        <a:fillRef idx="1">
          <a:schemeClr val="accent1">
            <a:shade val="90000"/>
            <a:hueOff val="510000"/>
            <a:satOff val="-39803"/>
            <a:lumOff val="2725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2053772"/>
        <a:ext cx="139396" cy="167276"/>
      </dsp:txXfrm>
    </dsp:sp>
    <dsp:sp modelId="{5CEF5857-FE22-4FD2-AD2A-E7460BCFADBE}">
      <dsp:nvSpPr>
        <dsp:cNvPr id="11" name="圆角矩形 10"/>
        <dsp:cNvSpPr/>
      </dsp:nvSpPr>
      <dsp:spPr bwMode="white">
        <a:xfrm>
          <a:off x="390207" y="2230341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733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共被引分析</a:t>
          </a:r>
          <a:endParaRPr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2230341"/>
        <a:ext cx="1279525" cy="371723"/>
      </dsp:txXfrm>
    </dsp:sp>
    <dsp:sp modelId="{D961F3E3-19D9-4B2C-BE92-6B9FA02D9F2E}">
      <dsp:nvSpPr>
        <dsp:cNvPr id="12" name="右箭头 11"/>
        <dsp:cNvSpPr/>
      </dsp:nvSpPr>
      <dsp:spPr bwMode="white">
        <a:xfrm rot="5399999">
          <a:off x="960272" y="2611357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679999"/>
            <a:satOff val="-53071"/>
            <a:lumOff val="36340"/>
            <a:alpha val="100000"/>
          </a:schemeClr>
        </a:lnRef>
        <a:fillRef idx="1">
          <a:schemeClr val="accent1">
            <a:shade val="90000"/>
            <a:hueOff val="679999"/>
            <a:satOff val="-53071"/>
            <a:lumOff val="363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2611357"/>
        <a:ext cx="139396" cy="167276"/>
      </dsp:txXfrm>
    </dsp:sp>
    <dsp:sp modelId="{4ECBCC04-EB25-46E3-951F-FD183941C15F}">
      <dsp:nvSpPr>
        <dsp:cNvPr id="13" name="圆角矩形 12"/>
        <dsp:cNvSpPr/>
      </dsp:nvSpPr>
      <dsp:spPr bwMode="white">
        <a:xfrm>
          <a:off x="390207" y="2787926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1625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文献耦合分析</a:t>
          </a:r>
          <a:endParaRPr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2787926"/>
        <a:ext cx="1279525" cy="371723"/>
      </dsp:txXfrm>
    </dsp:sp>
    <dsp:sp modelId="{DAFB54E5-84CE-486D-9476-E0A6ABE9436E}">
      <dsp:nvSpPr>
        <dsp:cNvPr id="14" name="右箭头 13"/>
        <dsp:cNvSpPr/>
      </dsp:nvSpPr>
      <dsp:spPr bwMode="white">
        <a:xfrm rot="5399999">
          <a:off x="960272" y="3168943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850000"/>
            <a:satOff val="-66339"/>
            <a:lumOff val="45425"/>
            <a:alpha val="100000"/>
          </a:schemeClr>
        </a:lnRef>
        <a:fillRef idx="1">
          <a:schemeClr val="accent1">
            <a:shade val="90000"/>
            <a:hueOff val="850000"/>
            <a:satOff val="-66339"/>
            <a:lumOff val="4542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3168943"/>
        <a:ext cx="139396" cy="167276"/>
      </dsp:txXfrm>
    </dsp:sp>
    <dsp:sp modelId="{BB1790B6-B585-49CF-95F2-A57097E4E39B}">
      <dsp:nvSpPr>
        <dsp:cNvPr id="15" name="圆角矩形 14"/>
        <dsp:cNvSpPr/>
      </dsp:nvSpPr>
      <dsp:spPr bwMode="white">
        <a:xfrm>
          <a:off x="390207" y="3345511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591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合作网络分析</a:t>
          </a:r>
          <a:endParaRPr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3345511"/>
        <a:ext cx="1279525" cy="371723"/>
      </dsp:txXfrm>
    </dsp:sp>
    <dsp:sp modelId="{95A60442-638C-4E5B-87F6-59272F5949E7}">
      <dsp:nvSpPr>
        <dsp:cNvPr id="16" name="右箭头 15"/>
        <dsp:cNvSpPr/>
      </dsp:nvSpPr>
      <dsp:spPr bwMode="white">
        <a:xfrm rot="5399999">
          <a:off x="960272" y="3726528"/>
          <a:ext cx="139396" cy="16727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1020000"/>
            <a:satOff val="-79607"/>
            <a:lumOff val="54510"/>
            <a:alpha val="100000"/>
          </a:schemeClr>
        </a:lnRef>
        <a:fillRef idx="1">
          <a:schemeClr val="accent1">
            <a:shade val="90000"/>
            <a:hueOff val="1020000"/>
            <a:satOff val="-79607"/>
            <a:lumOff val="5451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latin typeface="等线" panose="02010600030101010101" charset="-122"/>
            <a:ea typeface="等线" panose="02010600030101010101" charset="-122"/>
          </a:endParaRPr>
        </a:p>
      </dsp:txBody>
      <dsp:txXfrm rot="5399999">
        <a:off x="960272" y="3726528"/>
        <a:ext cx="139396" cy="167276"/>
      </dsp:txXfrm>
    </dsp:sp>
    <dsp:sp modelId="{60D14FA2-1E8C-4184-8CA3-534F1FC3CB66}">
      <dsp:nvSpPr>
        <dsp:cNvPr id="17" name="圆角矩形 16"/>
        <dsp:cNvSpPr/>
      </dsp:nvSpPr>
      <dsp:spPr bwMode="white">
        <a:xfrm>
          <a:off x="390207" y="3903097"/>
          <a:ext cx="1279525" cy="3717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等线" panose="02010600030101010101" charset="-122"/>
              <a:ea typeface="等线" panose="02010600030101010101" charset="-122"/>
            </a:rPr>
            <a:t>结果可视化</a:t>
          </a:r>
          <a:endParaRPr altLang="en-US">
            <a:latin typeface="等线" panose="02010600030101010101" charset="-122"/>
            <a:ea typeface="等线" panose="02010600030101010101" charset="-122"/>
          </a:endParaRPr>
        </a:p>
      </dsp:txBody>
      <dsp:txXfrm>
        <a:off x="390207" y="3903097"/>
        <a:ext cx="1279525" cy="371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167630" cy="3121025"/>
        <a:chOff x="0" y="0"/>
        <a:chExt cx="5167630" cy="3121025"/>
      </a:xfrm>
    </dsp:grpSpPr>
    <dsp:sp modelId="{DD9406C3-FC80-4468-A55B-122D744D43F0}">
      <dsp:nvSpPr>
        <dsp:cNvPr id="4" name="同侧圆角矩形 3"/>
        <dsp:cNvSpPr/>
      </dsp:nvSpPr>
      <dsp:spPr bwMode="white">
        <a:xfrm rot="5400000">
          <a:off x="2877773" y="-1266072"/>
          <a:ext cx="979595" cy="3511739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57150" tIns="28575" rIns="57150" bIns="28575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发文量增长缓慢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研究以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LSTM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可行性验证为主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领域处于技术积累阶段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 rot="5400000">
        <a:off x="2877773" y="-1266072"/>
        <a:ext cx="979595" cy="3511739"/>
      </dsp:txXfrm>
    </dsp:sp>
    <dsp:sp modelId="{96BE2B31-D87C-43E1-BE64-4C27B13F4AA4}">
      <dsp:nvSpPr>
        <dsp:cNvPr id="3" name="圆角矩形 2"/>
        <dsp:cNvSpPr/>
      </dsp:nvSpPr>
      <dsp:spPr bwMode="white">
        <a:xfrm>
          <a:off x="39614" y="17774"/>
          <a:ext cx="1572086" cy="9440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探索起步期（2017</a:t>
          </a:r>
          <a:r>
            <a: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rPr>
            <a:t>2020）</a:t>
          </a:r>
          <a:endParaRPr lang="zh-CN" altLang="en-US">
            <a:latin typeface="黑体" panose="02010609060101010101" charset="-122"/>
            <a:ea typeface="黑体" panose="02010609060101010101" charset="-122"/>
            <a:cs typeface="黑体" panose="02010609060101010101" charset="-122"/>
          </a:endParaRPr>
        </a:p>
      </dsp:txBody>
      <dsp:txXfrm>
        <a:off x="39614" y="17774"/>
        <a:ext cx="1572086" cy="944048"/>
      </dsp:txXfrm>
    </dsp:sp>
    <dsp:sp modelId="{6EB2A58E-CA03-4F76-94B6-D8FE50231963}">
      <dsp:nvSpPr>
        <dsp:cNvPr id="6" name="同侧圆角矩形 5"/>
        <dsp:cNvSpPr/>
      </dsp:nvSpPr>
      <dsp:spPr bwMode="white">
        <a:xfrm rot="5400000">
          <a:off x="2897827" y="-191285"/>
          <a:ext cx="979595" cy="3480783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57150" tIns="28575" rIns="57150" bIns="28575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发文量显著增长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LSTM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开始与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BiLSTM、CNN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等模型结合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研究关注度快速提升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 rot="5400000">
        <a:off x="2897827" y="-191285"/>
        <a:ext cx="979595" cy="3480783"/>
      </dsp:txXfrm>
    </dsp:sp>
    <dsp:sp modelId="{EBD335B5-8308-49CB-9630-99D852747B1F}">
      <dsp:nvSpPr>
        <dsp:cNvPr id="5" name="圆角矩形 4"/>
        <dsp:cNvSpPr/>
      </dsp:nvSpPr>
      <dsp:spPr bwMode="white">
        <a:xfrm>
          <a:off x="39614" y="1040819"/>
          <a:ext cx="1607619" cy="101657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</a:rPr>
            <a:t>快速发展期（2021</a:t>
          </a:r>
          <a:r>
            <a:rPr lang="en-US" altLang="zh-CN">
              <a:latin typeface="黑体" panose="02010609060101010101" charset="-122"/>
              <a:ea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>2023）</a:t>
          </a:r>
          <a:endParaRPr lang="zh-CN" altLang="en-US">
            <a:latin typeface="黑体" panose="02010609060101010101" charset="-122"/>
            <a:ea typeface="黑体" panose="02010609060101010101" charset="-122"/>
          </a:endParaRPr>
        </a:p>
      </dsp:txBody>
      <dsp:txXfrm>
        <a:off x="39614" y="1040819"/>
        <a:ext cx="1607619" cy="1016574"/>
      </dsp:txXfrm>
    </dsp:sp>
    <dsp:sp modelId="{64028F0D-BE57-4642-92F7-303D4E45C524}">
      <dsp:nvSpPr>
        <dsp:cNvPr id="8" name="同侧圆角矩形 7"/>
        <dsp:cNvSpPr/>
      </dsp:nvSpPr>
      <dsp:spPr bwMode="white">
        <a:xfrm rot="5400000">
          <a:off x="2905667" y="893188"/>
          <a:ext cx="979595" cy="3453267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57150" tIns="28575" rIns="57150" bIns="28575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发文量再次大幅增长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Transformer、Attention</a:t>
          </a: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等新技术不断融入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>
              <a:solidFill>
                <a:schemeClr val="dk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研究进入技术融合与场景扩展阶段</a:t>
          </a:r>
          <a:endParaRPr lang="zh-CN" altLang="en-US" sz="1500">
            <a:solidFill>
              <a:schemeClr val="dk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 rot="5400000">
        <a:off x="2905667" y="893188"/>
        <a:ext cx="979595" cy="3453267"/>
      </dsp:txXfrm>
    </dsp:sp>
    <dsp:sp modelId="{B093CE78-670B-40EB-95CF-315E334D550F}">
      <dsp:nvSpPr>
        <dsp:cNvPr id="7" name="圆角矩形 6"/>
        <dsp:cNvSpPr/>
      </dsp:nvSpPr>
      <dsp:spPr bwMode="white">
        <a:xfrm>
          <a:off x="39614" y="2118618"/>
          <a:ext cx="1629217" cy="100240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2390" tIns="36195" rIns="72390" bIns="3619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黑体" panose="02010609060101010101" charset="-122"/>
              <a:ea typeface="黑体" panose="02010609060101010101" charset="-122"/>
            </a:rPr>
            <a:t>融合创新期（2024</a:t>
          </a:r>
          <a:r>
            <a:rPr lang="en-US" altLang="zh-CN">
              <a:latin typeface="黑体" panose="02010609060101010101" charset="-122"/>
              <a:ea typeface="黑体" panose="02010609060101010101" charset="-122"/>
            </a:rPr>
            <a:t>-</a:t>
          </a:r>
          <a:r>
            <a:rPr lang="zh-CN" altLang="en-US">
              <a:latin typeface="黑体" panose="02010609060101010101" charset="-122"/>
              <a:ea typeface="黑体" panose="02010609060101010101" charset="-122"/>
            </a:rPr>
            <a:t>2025）</a:t>
          </a:r>
          <a:endParaRPr lang="zh-CN" altLang="en-US">
            <a:latin typeface="黑体" panose="02010609060101010101" charset="-122"/>
            <a:ea typeface="黑体" panose="02010609060101010101" charset="-122"/>
          </a:endParaRPr>
        </a:p>
      </dsp:txBody>
      <dsp:txXfrm>
        <a:off x="39614" y="2118618"/>
        <a:ext cx="1629217" cy="1002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 CN" panose="02020400000000000000" charset="-122"/>
              <a:ea typeface="思源宋体 CN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宋体 CN" panose="02020400000000000000" charset="-122"/>
              </a:rPr>
            </a:fld>
            <a:endParaRPr lang="zh-CN" altLang="en-US">
              <a:latin typeface="思源宋体 CN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 CN" panose="02020400000000000000" charset="-122"/>
              <a:ea typeface="思源宋体 CN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宋体 CN" panose="02020400000000000000" charset="-122"/>
              </a:rPr>
            </a:fld>
            <a:endParaRPr lang="zh-CN" altLang="en-US">
              <a:latin typeface="思源宋体 CN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charset="-122"/>
                <a:ea typeface="思源宋体 CN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charset="-122"/>
                <a:ea typeface="思源宋体 CN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charset="-122"/>
                <a:ea typeface="思源宋体 CN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charset="-122"/>
                <a:ea typeface="思源宋体 CN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charset="-122"/>
        <a:ea typeface="思源宋体 CN" panose="0202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charset="-122"/>
        <a:ea typeface="思源宋体 CN" panose="0202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charset="-122"/>
        <a:ea typeface="思源宋体 CN" panose="0202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charset="-122"/>
        <a:ea typeface="思源宋体 CN" panose="0202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charset="-122"/>
        <a:ea typeface="思源宋体 CN" panose="0202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思源宋体 CN" panose="020204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思源宋体 CN" panose="0202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思源宋体 CN" panose="020204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思源宋体 CN" panose="020204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" panose="020204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" panose="020204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" panose="020204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" panose="020204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" panose="020204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2.jpe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0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71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16.xml"/><Relationship Id="rId20" Type="http://schemas.openxmlformats.org/officeDocument/2006/relationships/tags" Target="../tags/tag115.xml"/><Relationship Id="rId2" Type="http://schemas.openxmlformats.org/officeDocument/2006/relationships/image" Target="../media/image1.jpeg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image" Target="../media/image1.jpeg"/><Relationship Id="rId1" Type="http://schemas.openxmlformats.org/officeDocument/2006/relationships/tags" Target="../tags/tag1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image" Target="../media/image5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image" Target="../media/image1.jpeg"/><Relationship Id="rId10" Type="http://schemas.openxmlformats.org/officeDocument/2006/relationships/notesSlide" Target="../notesSlides/notesSlide6.xml"/><Relationship Id="rId1" Type="http://schemas.openxmlformats.org/officeDocument/2006/relationships/tags" Target="../tags/tag12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1.xml"/><Relationship Id="rId8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Relationship Id="rId6" Type="http://schemas.openxmlformats.org/officeDocument/2006/relationships/diagramData" Target="../diagrams/data1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1.jpe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microsoft.com/office/2007/relationships/diagramDrawing" Target="../diagrams/drawing1.xml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diagramQuickStyle" Target="../diagrams/quickStyle2.xml"/><Relationship Id="rId8" Type="http://schemas.openxmlformats.org/officeDocument/2006/relationships/diagramLayout" Target="../diagrams/layout2.xml"/><Relationship Id="rId7" Type="http://schemas.openxmlformats.org/officeDocument/2006/relationships/diagramData" Target="../diagrams/data2.xml"/><Relationship Id="rId6" Type="http://schemas.openxmlformats.org/officeDocument/2006/relationships/image" Target="../media/image6.emf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image" Target="../media/image1.jpe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46.xml"/><Relationship Id="rId11" Type="http://schemas.microsoft.com/office/2007/relationships/diagramDrawing" Target="../diagrams/drawing2.xml"/><Relationship Id="rId10" Type="http://schemas.openxmlformats.org/officeDocument/2006/relationships/diagramColors" Target="../diagrams/colors2.xml"/><Relationship Id="rId1" Type="http://schemas.openxmlformats.org/officeDocument/2006/relationships/tags" Target="../tags/tag14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1.xm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image" Target="../media/image1.jpe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1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image" Target="../media/image9.png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1.jpe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image" Target="../media/image10.png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image" Target="../media/image1.jpe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75.xml"/><Relationship Id="rId1" Type="http://schemas.openxmlformats.org/officeDocument/2006/relationships/tags" Target="../tags/tag16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image" Target="../media/image1.jpeg"/><Relationship Id="rId10" Type="http://schemas.openxmlformats.org/officeDocument/2006/relationships/notesSlide" Target="../notesSlides/notesSlide15.xml"/><Relationship Id="rId1" Type="http://schemas.openxmlformats.org/officeDocument/2006/relationships/tags" Target="../tags/tag18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image" Target="../media/image1.jpeg"/><Relationship Id="rId1" Type="http://schemas.openxmlformats.org/officeDocument/2006/relationships/tags" Target="../tags/tag18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image" Target="../media/image1.jpeg"/><Relationship Id="rId10" Type="http://schemas.openxmlformats.org/officeDocument/2006/relationships/notesSlide" Target="../notesSlides/notesSlide17.xml"/><Relationship Id="rId1" Type="http://schemas.openxmlformats.org/officeDocument/2006/relationships/tags" Target="../tags/tag19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07.xml"/><Relationship Id="rId7" Type="http://schemas.openxmlformats.org/officeDocument/2006/relationships/image" Target="../media/image11.png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image" Target="../media/image1.jpeg"/><Relationship Id="rId10" Type="http://schemas.openxmlformats.org/officeDocument/2006/relationships/notesSlide" Target="../notesSlides/notesSlide18.xml"/><Relationship Id="rId1" Type="http://schemas.openxmlformats.org/officeDocument/2006/relationships/tags" Target="../tags/tag20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image" Target="../media/image2.jpe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VCG41N1159441976"/>
          <p:cNvPicPr>
            <a:picLocks noChangeAspect="1"/>
          </p:cNvPicPr>
          <p:nvPr/>
        </p:nvPicPr>
        <p:blipFill>
          <a:blip r:embed="rId1">
            <a:alphaModFix amt="15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pic>
        <p:nvPicPr>
          <p:cNvPr id="2" name="图片 1" descr="VCG41N1159441977"/>
          <p:cNvPicPr>
            <a:picLocks noChangeAspect="1"/>
          </p:cNvPicPr>
          <p:nvPr/>
        </p:nvPicPr>
        <p:blipFill>
          <a:blip r:embed="rId2"/>
          <a:srcRect b="32222"/>
          <a:stretch>
            <a:fillRect/>
          </a:stretch>
        </p:blipFill>
        <p:spPr>
          <a:xfrm>
            <a:off x="1812925" y="1098550"/>
            <a:ext cx="10380980" cy="4672965"/>
          </a:xfrm>
          <a:prstGeom prst="round2Diag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914400" y="1590675"/>
            <a:ext cx="11277600" cy="2643505"/>
            <a:chOff x="1468" y="2051"/>
            <a:chExt cx="17760" cy="4163"/>
          </a:xfrm>
        </p:grpSpPr>
        <p:sp>
          <p:nvSpPr>
            <p:cNvPr id="21" name="文本框 20"/>
            <p:cNvSpPr txBox="1"/>
            <p:nvPr/>
          </p:nvSpPr>
          <p:spPr>
            <a:xfrm>
              <a:off x="1468" y="2697"/>
              <a:ext cx="11742" cy="25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l" fontAlgn="ctr">
                <a:lnSpc>
                  <a:spcPct val="100000"/>
                </a:lnSpc>
              </a:pPr>
              <a:r>
                <a:rPr lang="en-US" altLang="zh-CN" sz="4900" b="1">
                  <a:solidFill>
                    <a:schemeClr val="accent1"/>
                  </a:solidFill>
                  <a:latin typeface="方正小标宋简体" panose="02000000000000000000" charset="-122"/>
                  <a:ea typeface="方正小标宋简体" panose="02000000000000000000" charset="-122"/>
                  <a:cs typeface="方正小标宋简体" panose="02000000000000000000" charset="-122"/>
                  <a:sym typeface="+mn-ea"/>
                </a:rPr>
                <a:t>LSTM</a:t>
              </a:r>
              <a:r>
                <a:rPr lang="zh-CN" altLang="en-US" sz="4900" b="1">
                  <a:solidFill>
                    <a:schemeClr val="accent1"/>
                  </a:solidFill>
                  <a:latin typeface="方正小标宋简体" panose="02000000000000000000" charset="-122"/>
                  <a:ea typeface="方正小标宋简体" panose="02000000000000000000" charset="-122"/>
                  <a:cs typeface="方正小标宋简体" panose="02000000000000000000" charset="-122"/>
                  <a:sym typeface="+mn-ea"/>
                </a:rPr>
                <a:t>驱动的电力负荷预测研究演化分析</a:t>
              </a:r>
              <a:endParaRPr lang="zh-CN" altLang="en-US" sz="49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2341" y="4980"/>
              <a:ext cx="16887" cy="123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l" fontAlgn="ctr">
                <a:lnSpc>
                  <a:spcPct val="150000"/>
                </a:lnSpc>
              </a:pPr>
              <a:r>
                <a:rPr lang="en-US" altLang="zh-CN" sz="3000" b="1">
                  <a:solidFill>
                    <a:schemeClr val="dk1"/>
                  </a:solidFill>
                  <a:latin typeface="方正小标宋简体" panose="02000000000000000000" charset="-122"/>
                  <a:ea typeface="方正小标宋简体" panose="02000000000000000000" charset="-122"/>
                  <a:cs typeface="方正小标宋简体" panose="02000000000000000000" charset="-122"/>
                  <a:sym typeface="+mn-ea"/>
                </a:rPr>
                <a:t>——</a:t>
              </a:r>
              <a:r>
                <a:rPr lang="zh-CN" altLang="en-US" sz="3000" b="1">
                  <a:solidFill>
                    <a:schemeClr val="dk1"/>
                  </a:solidFill>
                  <a:latin typeface="方正小标宋简体" panose="02000000000000000000" charset="-122"/>
                  <a:ea typeface="方正小标宋简体" panose="02000000000000000000" charset="-122"/>
                  <a:cs typeface="方正小标宋简体" panose="02000000000000000000" charset="-122"/>
                  <a:sym typeface="+mn-ea"/>
                </a:rPr>
                <a:t>基于文献计量方法的热点识别、知识结构解析与趋势追踪</a:t>
              </a:r>
              <a:endParaRPr lang="zh-CN" altLang="en-US" sz="3000" b="1">
                <a:solidFill>
                  <a:schemeClr val="dk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520" y="2051"/>
              <a:ext cx="3845" cy="532"/>
              <a:chOff x="1517" y="5472"/>
              <a:chExt cx="3845" cy="532"/>
            </a:xfrm>
          </p:grpSpPr>
          <p:sp>
            <p:nvSpPr>
              <p:cNvPr id="14" name="文本框 1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17" y="5472"/>
                <a:ext cx="710" cy="5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fontAlgn="ctr">
                  <a:lnSpc>
                    <a:spcPct val="100000"/>
                  </a:lnSpc>
                </a:pPr>
                <a:r>
                  <a:rPr lang="en-US" altLang="zh-CN" sz="1600" b="1">
                    <a:solidFill>
                      <a:schemeClr val="dk1"/>
                    </a:solidFill>
                    <a:latin typeface="思源宋体 CN Heavy" panose="02020900000000000000" charset="-122"/>
                    <a:ea typeface="思源宋体 CN Heavy" panose="02020900000000000000" charset="-122"/>
                    <a:cs typeface="思源宋体 CN" panose="02020400000000000000" charset="-122"/>
                  </a:rPr>
                  <a:t>06</a:t>
                </a:r>
                <a:endParaRPr lang="en-US" altLang="zh-CN" sz="1600" b="1">
                  <a:solidFill>
                    <a:schemeClr val="dk1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" panose="02020400000000000000" charset="-122"/>
                </a:endParaRP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931" y="5473"/>
                <a:ext cx="1084" cy="5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 fontAlgn="ctr">
                  <a:lnSpc>
                    <a:spcPct val="100000"/>
                  </a:lnSpc>
                </a:pPr>
                <a:r>
                  <a:rPr lang="en-US" altLang="zh-CN" sz="1600" b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宋体 CN Heavy" panose="02020900000000000000" charset="-122"/>
                    <a:ea typeface="思源宋体 CN Heavy" panose="02020900000000000000" charset="-122"/>
                    <a:cs typeface="思源宋体 CN" panose="02020400000000000000" charset="-122"/>
                    <a:sym typeface="+mn-ea"/>
                  </a:rPr>
                  <a:t> / 11</a:t>
                </a:r>
                <a:endParaRPr lang="en-US" altLang="zh-CN" sz="1600" b="1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" panose="02020400000000000000" charset="-122"/>
                  <a:sym typeface="+mn-ea"/>
                </a:endParaRPr>
              </a:p>
            </p:txBody>
          </p:sp>
          <p:cxnSp>
            <p:nvCxnSpPr>
              <p:cNvPr id="12" name="直接连接符 11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901" y="5694"/>
                <a:ext cx="2461" cy="0"/>
              </a:xfrm>
              <a:prstGeom prst="line">
                <a:avLst/>
              </a:prstGeom>
              <a:ln w="9525">
                <a:solidFill>
                  <a:schemeClr val="dk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>
              <p:custDataLst>
                <p:tags r:id="rId7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8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843915" y="4234180"/>
            <a:ext cx="3333115" cy="971550"/>
            <a:chOff x="1329" y="6565"/>
            <a:chExt cx="5249" cy="1530"/>
          </a:xfrm>
        </p:grpSpPr>
        <p:sp>
          <p:nvSpPr>
            <p:cNvPr id="8" name="矩形 7"/>
            <p:cNvSpPr/>
            <p:nvPr/>
          </p:nvSpPr>
          <p:spPr>
            <a:xfrm>
              <a:off x="2313" y="7193"/>
              <a:ext cx="4265" cy="902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>
              <a:off x="2814" y="7354"/>
              <a:ext cx="3263" cy="6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20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思源宋体 CN" panose="02020400000000000000" charset="-122"/>
                </a:rPr>
                <a:t>刘泽熙、郭逸清</a:t>
              </a:r>
              <a:endParaRPr lang="zh-CN" altLang="en-US" sz="200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思源宋体 CN" panose="0202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29" y="6565"/>
              <a:ext cx="451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zh-CN" altLang="en-US" sz="20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思源宋体 CN" panose="02020400000000000000" charset="-122"/>
                  <a:sym typeface="+mn-ea"/>
                </a:rPr>
                <a:t>汇报：</a:t>
              </a:r>
              <a:endPara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思源宋体 CN" panose="02020400000000000000" charset="-122"/>
                <a:sym typeface="+mn-ea"/>
              </a:endParaRPr>
            </a:p>
          </p:txBody>
        </p:sp>
      </p:grp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VCG41N1159441977"/>
          <p:cNvPicPr>
            <a:picLocks noChangeAspect="1"/>
          </p:cNvPicPr>
          <p:nvPr/>
        </p:nvPicPr>
        <p:blipFill>
          <a:blip r:embed="rId1"/>
          <a:srcRect t="15677"/>
          <a:stretch>
            <a:fillRect/>
          </a:stretch>
        </p:blipFill>
        <p:spPr>
          <a:xfrm>
            <a:off x="-635" y="30480"/>
            <a:ext cx="12192000" cy="6827520"/>
          </a:xfrm>
          <a:prstGeom prst="rect">
            <a:avLst/>
          </a:prstGeom>
        </p:spPr>
      </p:pic>
      <p:sp>
        <p:nvSpPr>
          <p:cNvPr id="58" name="单圆角矩形 57"/>
          <p:cNvSpPr/>
          <p:nvPr>
            <p:custDataLst>
              <p:tags r:id="rId2"/>
            </p:custDataLst>
          </p:nvPr>
        </p:nvSpPr>
        <p:spPr>
          <a:xfrm>
            <a:off x="0" y="0"/>
            <a:ext cx="8851900" cy="6858000"/>
          </a:xfrm>
          <a:prstGeom prst="round1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VCG41N1159607692"/>
          <p:cNvPicPr>
            <a:picLocks noChangeAspect="1"/>
          </p:cNvPicPr>
          <p:nvPr/>
        </p:nvPicPr>
        <p:blipFill>
          <a:blip r:embed="rId3">
            <a:alphaModFix amt="10000"/>
          </a:blip>
          <a:srcRect l="21153" t="9001"/>
          <a:stretch>
            <a:fillRect/>
          </a:stretch>
        </p:blipFill>
        <p:spPr>
          <a:xfrm>
            <a:off x="-55880" y="12700"/>
            <a:ext cx="8930640" cy="6845300"/>
          </a:xfrm>
          <a:prstGeom prst="round1Rect">
            <a:avLst/>
          </a:prstGeom>
        </p:spPr>
      </p:pic>
      <p:pic>
        <p:nvPicPr>
          <p:cNvPr id="5" name="图片 4" descr="VCG41N1159441972"/>
          <p:cNvPicPr>
            <a:picLocks noChangeAspect="1"/>
          </p:cNvPicPr>
          <p:nvPr/>
        </p:nvPicPr>
        <p:blipFill>
          <a:blip r:embed="rId4">
            <a:alphaModFix amt="30000"/>
          </a:blip>
          <a:srcRect b="59253"/>
          <a:stretch>
            <a:fillRect/>
          </a:stretch>
        </p:blipFill>
        <p:spPr>
          <a:xfrm>
            <a:off x="313055" y="559435"/>
            <a:ext cx="2303780" cy="623570"/>
          </a:xfrm>
          <a:prstGeom prst="round1Rect">
            <a:avLst>
              <a:gd name="adj" fmla="val 42362"/>
            </a:avLst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960755" y="749300"/>
            <a:ext cx="2623820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3100">
                <a:solidFill>
                  <a:schemeClr val="accent1"/>
                </a:solidFill>
                <a:latin typeface="思源宋体 CN Heavy" panose="02020900000000000000" charset="-122"/>
                <a:ea typeface="思源宋体 CN Heavy" panose="02020900000000000000" charset="-122"/>
                <a:sym typeface="+mn-ea"/>
              </a:rPr>
              <a:t>CONTENTS</a:t>
            </a:r>
            <a:endParaRPr lang="en-US" altLang="zh-CN" sz="3100" kern="0">
              <a:solidFill>
                <a:schemeClr val="accent1"/>
              </a:solidFill>
              <a:uFillTx/>
              <a:latin typeface="思源宋体 CN Heavy" panose="02020900000000000000" charset="-122"/>
              <a:ea typeface="思源宋体 CN Heavy" panose="020209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20825" y="2299335"/>
            <a:ext cx="32651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6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sym typeface="+mn-ea"/>
              </a:rPr>
              <a:t>研究背景与研究设计</a:t>
            </a:r>
            <a:endParaRPr lang="zh-CN" altLang="en-US" sz="26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387985" y="2040890"/>
            <a:ext cx="133286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600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01</a:t>
            </a:r>
            <a:endParaRPr lang="en-US" altLang="zh-CN" sz="4600">
              <a:solidFill>
                <a:schemeClr val="dk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8"/>
            </p:custDataLst>
          </p:nvPr>
        </p:nvCxnSpPr>
        <p:spPr>
          <a:xfrm>
            <a:off x="711835" y="2868295"/>
            <a:ext cx="34563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617855" y="2942590"/>
            <a:ext cx="40957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</a:rPr>
              <a:t>研究背景、研究问题、数据来源和研究方法</a:t>
            </a:r>
            <a:endParaRPr lang="zh-CN" altLang="en-US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5695950" y="2308225"/>
            <a:ext cx="34385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6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sym typeface="+mn-ea"/>
              </a:rPr>
              <a:t>研究热点与发展趋势</a:t>
            </a:r>
            <a:endParaRPr lang="zh-CN" sz="26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4608195" y="2040890"/>
            <a:ext cx="133286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600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02</a:t>
            </a:r>
            <a:endParaRPr lang="en-US" altLang="zh-CN" sz="4600">
              <a:solidFill>
                <a:schemeClr val="dk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2"/>
            </p:custDataLst>
          </p:nvPr>
        </p:nvCxnSpPr>
        <p:spPr>
          <a:xfrm>
            <a:off x="4932045" y="2868295"/>
            <a:ext cx="34563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4933315" y="2936875"/>
            <a:ext cx="4464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RQ1:</a:t>
            </a:r>
            <a:r>
              <a:rPr lang="zh-CN" altLang="en-US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发文演化趋势与知识积累期分析</a:t>
            </a:r>
            <a:endParaRPr lang="zh-CN" altLang="en-US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RQ2:</a:t>
            </a:r>
            <a:r>
              <a:rPr lang="zh-CN" altLang="en-US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研究热点与技术演化分析</a:t>
            </a:r>
            <a:endParaRPr lang="zh-CN" altLang="en-US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1520825" y="4361180"/>
            <a:ext cx="32651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6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sym typeface="+mn-ea"/>
              </a:rPr>
              <a:t>知识结构与学术生态</a:t>
            </a:r>
            <a:endParaRPr lang="zh-CN" sz="26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387985" y="4131945"/>
            <a:ext cx="133286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600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03</a:t>
            </a:r>
            <a:endParaRPr lang="en-US" altLang="zh-CN" sz="4600">
              <a:solidFill>
                <a:schemeClr val="dk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16"/>
            </p:custDataLst>
          </p:nvPr>
        </p:nvCxnSpPr>
        <p:spPr>
          <a:xfrm>
            <a:off x="711835" y="4959350"/>
            <a:ext cx="34563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17"/>
            </p:custDataLst>
          </p:nvPr>
        </p:nvSpPr>
        <p:spPr>
          <a:xfrm>
            <a:off x="711835" y="5038090"/>
            <a:ext cx="3930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RQ3:知识基础与研究前沿分析</a:t>
            </a:r>
            <a:endParaRPr lang="en-US" altLang="zh-CN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RQ4:学术合作网络分析</a:t>
            </a:r>
            <a:endParaRPr lang="en-US" altLang="zh-CN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5695950" y="4351655"/>
            <a:ext cx="32359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6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sym typeface="+mn-ea"/>
              </a:rPr>
              <a:t>研究结论与未来展望</a:t>
            </a:r>
            <a:endParaRPr lang="zh-CN" altLang="en-US" sz="2500">
              <a:solidFill>
                <a:schemeClr val="accent1"/>
              </a:solidFill>
              <a:latin typeface="思源宋体 CN Heavy" panose="02020900000000000000" charset="-122"/>
              <a:ea typeface="思源宋体 CN Heavy" panose="02020900000000000000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4608195" y="4131945"/>
            <a:ext cx="133286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600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04</a:t>
            </a:r>
            <a:endParaRPr lang="en-US" altLang="zh-CN" sz="4600">
              <a:solidFill>
                <a:schemeClr val="dk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47" name="直接连接符 46"/>
          <p:cNvCxnSpPr/>
          <p:nvPr>
            <p:custDataLst>
              <p:tags r:id="rId20"/>
            </p:custDataLst>
          </p:nvPr>
        </p:nvCxnSpPr>
        <p:spPr>
          <a:xfrm>
            <a:off x="4932045" y="4959350"/>
            <a:ext cx="345630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21"/>
            </p:custDataLst>
          </p:nvPr>
        </p:nvSpPr>
        <p:spPr>
          <a:xfrm>
            <a:off x="4932680" y="5038090"/>
            <a:ext cx="3930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1400" spc="200">
                <a:solidFill>
                  <a:schemeClr val="accent1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核心研究发现、研究局限与未来方向</a:t>
            </a:r>
            <a:endParaRPr lang="en-US" altLang="zh-CN" sz="1400" spc="200">
              <a:solidFill>
                <a:schemeClr val="accent1"/>
              </a:solidFill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VCG41N1159441976"/>
          <p:cNvPicPr>
            <a:picLocks noChangeAspect="1"/>
          </p:cNvPicPr>
          <p:nvPr/>
        </p:nvPicPr>
        <p:blipFill>
          <a:blip r:embed="rId1">
            <a:alphaModFix amt="10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419340" y="2339340"/>
            <a:ext cx="4772660" cy="3206115"/>
            <a:chOff x="1024" y="4137"/>
            <a:chExt cx="7516" cy="5049"/>
          </a:xfrm>
        </p:grpSpPr>
        <p:sp>
          <p:nvSpPr>
            <p:cNvPr id="19" name="文本框 18"/>
            <p:cNvSpPr txBox="1"/>
            <p:nvPr/>
          </p:nvSpPr>
          <p:spPr>
            <a:xfrm>
              <a:off x="1024" y="5493"/>
              <a:ext cx="7516" cy="232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zh-CN" altLang="en-US" sz="4500" b="1">
                  <a:solidFill>
                    <a:schemeClr val="accent1"/>
                  </a:solidFill>
                  <a:latin typeface="方正小标宋简体" panose="02000000000000000000" charset="-122"/>
                  <a:ea typeface="方正小标宋简体" panose="02000000000000000000" charset="-122"/>
                  <a:sym typeface="+mn-ea"/>
                </a:rPr>
                <a:t>研究背景与研究设计</a:t>
              </a:r>
              <a:endParaRPr lang="zh-CN" altLang="en-US" sz="4500" b="1">
                <a:solidFill>
                  <a:schemeClr val="accent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024" y="7734"/>
              <a:ext cx="7516" cy="145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50000"/>
                </a:lnSpc>
              </a:pPr>
              <a:r>
                <a:rPr lang="en-US" altLang="zh-CN" spc="200">
                  <a:solidFill>
                    <a:schemeClr val="accent1"/>
                  </a:solidFill>
                  <a:uFillTx/>
                  <a:latin typeface="思源宋体 CN" panose="02020400000000000000" charset="-122"/>
                  <a:ea typeface="思源宋体 CN" panose="02020400000000000000" charset="-122"/>
                  <a:sym typeface="+mn-ea"/>
                </a:rPr>
                <a:t>Research Background and Research Design</a:t>
              </a:r>
              <a:endParaRPr lang="en-US" altLang="zh-CN" spc="200">
                <a:solidFill>
                  <a:schemeClr val="accent1"/>
                </a:solidFill>
                <a:uFillTx/>
                <a:latin typeface="思源宋体 CN" panose="02020400000000000000" charset="-122"/>
                <a:ea typeface="思源宋体 CN" panose="02020400000000000000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1024" y="4137"/>
              <a:ext cx="5475" cy="13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en-US" altLang="zh-CN" sz="5000">
                  <a:solidFill>
                    <a:schemeClr val="tx2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01</a:t>
              </a:r>
              <a:endParaRPr lang="en-US" altLang="zh-CN" sz="5000">
                <a:solidFill>
                  <a:schemeClr val="tx2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4"/>
              </p:custDataLst>
            </p:nvPr>
          </p:nvCxnSpPr>
          <p:spPr>
            <a:xfrm>
              <a:off x="2418" y="4815"/>
              <a:ext cx="1134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对角圆角矩形 48"/>
          <p:cNvSpPr/>
          <p:nvPr>
            <p:custDataLst>
              <p:tags r:id="rId5"/>
            </p:custDataLst>
          </p:nvPr>
        </p:nvSpPr>
        <p:spPr>
          <a:xfrm>
            <a:off x="-375285" y="1665605"/>
            <a:ext cx="2799080" cy="1706880"/>
          </a:xfrm>
          <a:prstGeom prst="round2DiagRect">
            <a:avLst/>
          </a:prstGeom>
          <a:solidFill>
            <a:srgbClr val="0B76C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5" name="直接连接符 4"/>
            <p:cNvCxnSpPr/>
            <p:nvPr>
              <p:custDataLst>
                <p:tags r:id="rId6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7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 descr="VCG41N1159441976"/>
          <p:cNvPicPr>
            <a:picLocks noChangeAspect="1"/>
          </p:cNvPicPr>
          <p:nvPr/>
        </p:nvPicPr>
        <p:blipFill>
          <a:blip r:embed="rId1"/>
          <a:srcRect t="21215" b="23529"/>
          <a:stretch>
            <a:fillRect/>
          </a:stretch>
        </p:blipFill>
        <p:spPr>
          <a:xfrm>
            <a:off x="358140" y="2226945"/>
            <a:ext cx="6530340" cy="2396490"/>
          </a:xfrm>
          <a:prstGeom prst="round2Diag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650303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研究背景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7" name="矩形 4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11530" y="1109345"/>
            <a:ext cx="6803390" cy="4567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no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电力负荷预测的重要性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电力负荷预测是智能电网运行调度、能源管理和电力市场决策的重要基础。随着新能源大规模接入电力系统，负荷数据呈现出更强的波动性和不确定性，对预测模型的精度与稳定性提出了更高要求。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en-US" altLang="zh-CN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成为主流技术路线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随着人工智能技术的发展，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凭借优异的长期时序依赖建模能力被广泛应用于电力负荷预测领域。近年来，研究者进一步将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Attention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机制、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CNN、Transformer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等技术与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融合，推动预测模型不断优化与创新。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现有研究的不足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现有研究大多聚焦于模型结构改进和预测性能提升，对于领域整体的发展态势、热点演化、知识结构以及学术生态缺乏系统分析。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1530" y="6226810"/>
            <a:ext cx="9403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因此，本文基于510篇文献，利用文献计量方法系统揭示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电力负荷预测领域的发展规律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844790" y="1412240"/>
            <a:ext cx="3347085" cy="713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7844790" y="2374265"/>
            <a:ext cx="3347085" cy="713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7844790" y="3314700"/>
            <a:ext cx="3347085" cy="713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7844790" y="4255135"/>
            <a:ext cx="3347085" cy="713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7844790" y="5195570"/>
            <a:ext cx="3347085" cy="713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stCxn id="13" idx="2"/>
            <a:endCxn id="14" idx="0"/>
          </p:cNvCxnSpPr>
          <p:nvPr>
            <p:custDataLst>
              <p:tags r:id="rId12"/>
            </p:custDataLst>
          </p:nvPr>
        </p:nvCxnSpPr>
        <p:spPr>
          <a:xfrm>
            <a:off x="9518650" y="2125980"/>
            <a:ext cx="0" cy="24828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" idx="2"/>
            <a:endCxn id="15" idx="0"/>
          </p:cNvCxnSpPr>
          <p:nvPr>
            <p:custDataLst>
              <p:tags r:id="rId13"/>
            </p:custDataLst>
          </p:nvPr>
        </p:nvCxnSpPr>
        <p:spPr>
          <a:xfrm>
            <a:off x="9518650" y="3088005"/>
            <a:ext cx="0" cy="22669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4"/>
            </p:custDataLst>
          </p:nvPr>
        </p:nvCxnSpPr>
        <p:spPr>
          <a:xfrm>
            <a:off x="9518650" y="4028440"/>
            <a:ext cx="0" cy="22669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5"/>
            </p:custDataLst>
          </p:nvPr>
        </p:nvCxnSpPr>
        <p:spPr>
          <a:xfrm>
            <a:off x="9518650" y="4968875"/>
            <a:ext cx="0" cy="22669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7845425" y="1440180"/>
            <a:ext cx="334645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传统统计模型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(ARIMA、</a:t>
            </a:r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指数平滑)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7870825" y="2423795"/>
            <a:ext cx="334645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机器学习模型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(SVR、RF、XGBoost)</a:t>
            </a:r>
            <a:endParaRPr lang="en-US" altLang="zh-CN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8"/>
            </p:custDataLst>
          </p:nvPr>
        </p:nvSpPr>
        <p:spPr>
          <a:xfrm>
            <a:off x="7870825" y="3374390"/>
            <a:ext cx="3346450" cy="637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深度学习模型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(LSTM)</a:t>
            </a:r>
            <a:endParaRPr lang="en-US" altLang="zh-CN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7845425" y="4298315"/>
            <a:ext cx="334645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融合改进模型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(BiLSTM、CNN-LSTM)</a:t>
            </a:r>
            <a:endParaRPr lang="en-US" altLang="zh-CN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7845425" y="5233035"/>
            <a:ext cx="334645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新型智能架构</a:t>
            </a:r>
            <a:endParaRPr lang="zh-CN" altLang="en-US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(Transformer、GNN)</a:t>
            </a:r>
            <a:endParaRPr lang="en-US" altLang="zh-CN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74280" y="755650"/>
            <a:ext cx="396875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电力负荷预测技术演化路径</a:t>
            </a:r>
            <a:endParaRPr lang="zh-CN" altLang="en-US" sz="240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650303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研究问题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2065" y="5815965"/>
            <a:ext cx="9595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围绕四个研究问题，我们将从发展趋势、热点演化、知识基础和学术生态四个层面构建分析框架，全面刻画LSTM驱动电力负荷预测领域的发展脉络与未来方向。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6"/>
            </p:custDataLst>
          </p:nvPr>
        </p:nvGraphicFramePr>
        <p:xfrm>
          <a:off x="1282065" y="1363345"/>
          <a:ext cx="9595485" cy="419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810"/>
                <a:gridCol w="4615180"/>
                <a:gridCol w="3198495"/>
              </a:tblGrid>
              <a:tr h="574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研究问题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关注重点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897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RQ1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2015-2025 年间发文量呈现怎样的阶段化特征？是否已孕育范式革命？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发文趋势与阶段特征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984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RQ2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哪些改进模型（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Method）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与电力应用场景（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Scenario）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构成了核心拓扑交叉点？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方法演化与场景扩展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756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RQ3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共被引与文献耦合网络中，哪些是改变领域走向的 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Milestone（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里程碑）文献？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共被引网络与耦合网络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984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RQ4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作者合著、机构合作、国家分布呈现怎样的协同演化网络格局？地理集中度如何？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作者、机构与国家合作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650303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数据来源与文献筛选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rcRect l="24525" t="4676" r="14053" b="4472"/>
          <a:stretch>
            <a:fillRect/>
          </a:stretch>
        </p:blipFill>
        <p:spPr>
          <a:xfrm>
            <a:off x="8009255" y="755650"/>
            <a:ext cx="3533775" cy="59448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8965" y="1109345"/>
            <a:ext cx="7290435" cy="3233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数据来源：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本研究以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 of Science Core Collection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和中国知网（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CNKI）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为数据来源，时间范围覆盖2015—2025年。为保证数据的全面性与可靠性，研究同时纳入期刊论文、综述论文和会议论文，并统一导出题名、作者、机构、关键词、摘要、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DOI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及参考文献等核心元数据。基于双数据库交叉检索，共获得1467篇原始文献记录。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检索策略设计：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采用参数化检索思想，将检索词划分为方法（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Method）、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Task）、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场景（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Context）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和排除项（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Exclusion）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四个维度，构建标准化布尔检索逻辑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00035" y="304165"/>
            <a:ext cx="375221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</a:t>
            </a:r>
            <a:r>
              <a:rPr lang="en-US" altLang="zh-CN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PRISMA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文献筛选状态流转图</a:t>
            </a:r>
            <a:endParaRPr lang="zh-CN" altLang="en-US" sz="200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7"/>
            </p:custDataLst>
          </p:nvPr>
        </p:nvGraphicFramePr>
        <p:xfrm>
          <a:off x="608965" y="4530725"/>
          <a:ext cx="729107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572897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维度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核心检索词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Method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LSTM、BiLSTM、Attention、Transformer、GRU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Task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Load Forecasting、Load Prediction、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电力负荷预测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Context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Power System、Smart Grid、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电力系统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Exclusion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Traffic Flow、Network Traffic、CPU Load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650303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研究方法与技术路线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965" y="1215390"/>
            <a:ext cx="1100391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9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PRISMA</a:t>
            </a:r>
            <a:r>
              <a:rPr lang="zh-CN" altLang="en-US" sz="19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规范筛选：</a:t>
            </a:r>
            <a:r>
              <a:rPr lang="zh-CN" altLang="en-US" sz="19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遵循</a:t>
            </a:r>
            <a:r>
              <a:rPr lang="en-US" altLang="zh-CN" sz="19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PRISMA</a:t>
            </a:r>
            <a:r>
              <a:rPr lang="zh-CN" altLang="en-US" sz="19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规范开展双阶段文献筛选与质量控制，确保最终样本的可靠性与一致性。</a:t>
            </a:r>
            <a:endParaRPr lang="zh-CN" altLang="en-US" sz="1900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965" y="1747520"/>
            <a:ext cx="324040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文献计量分析流水线</a:t>
            </a:r>
            <a:endParaRPr lang="zh-CN" altLang="en-US" sz="200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1011555" y="2296795"/>
          <a:ext cx="2059940" cy="4274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11"/>
            </p:custDataLst>
          </p:nvPr>
        </p:nvGraphicFramePr>
        <p:xfrm>
          <a:off x="4371340" y="2403475"/>
          <a:ext cx="7039610" cy="311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570"/>
                <a:gridCol w="4384040"/>
              </a:tblGrid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研究问题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分析方法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RQ1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发文趋势分析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RQ2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方法/场景频次分析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RQ3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共被引分析+文献耦合分析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RQ4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合作网络分析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255770" y="1747520"/>
            <a:ext cx="2319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分析方法对应</a:t>
            </a:r>
            <a:r>
              <a:rPr lang="en-US" altLang="zh-CN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RQ</a:t>
            </a: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3849370" y="5657215"/>
            <a:ext cx="776351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通过参数化检索策略、PRISMA规范筛选和Python文献计量分析流水线，构建从数据获取到知识发现的完整研究链条，为后续研究问题分析提供可靠的数据支撑。</a:t>
            </a:r>
            <a:endParaRPr lang="en-US" altLang="zh-CN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VCG41N1159441976"/>
          <p:cNvPicPr>
            <a:picLocks noChangeAspect="1"/>
          </p:cNvPicPr>
          <p:nvPr/>
        </p:nvPicPr>
        <p:blipFill>
          <a:blip r:embed="rId1">
            <a:alphaModFix amt="10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419340" y="2339340"/>
            <a:ext cx="4772660" cy="3206115"/>
            <a:chOff x="1024" y="4137"/>
            <a:chExt cx="7516" cy="5049"/>
          </a:xfrm>
        </p:grpSpPr>
        <p:sp>
          <p:nvSpPr>
            <p:cNvPr id="19" name="文本框 18"/>
            <p:cNvSpPr txBox="1"/>
            <p:nvPr/>
          </p:nvSpPr>
          <p:spPr>
            <a:xfrm>
              <a:off x="1024" y="5494"/>
              <a:ext cx="7516" cy="232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zh-CN" altLang="en-US" sz="4500" b="1">
                  <a:solidFill>
                    <a:schemeClr val="accent1"/>
                  </a:solidFill>
                  <a:latin typeface="方正小标宋简体" panose="02000000000000000000" charset="-122"/>
                  <a:ea typeface="方正小标宋简体" panose="02000000000000000000" charset="-122"/>
                </a:rPr>
                <a:t>研究热点与发展趋势</a:t>
              </a:r>
              <a:endParaRPr lang="zh-CN" altLang="en-US" sz="45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024" y="7734"/>
              <a:ext cx="7516" cy="145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50000"/>
                </a:lnSpc>
              </a:pPr>
              <a:r>
                <a:rPr lang="en-US" altLang="zh-CN" spc="200">
                  <a:solidFill>
                    <a:schemeClr val="accent1"/>
                  </a:solidFill>
                  <a:uFillTx/>
                  <a:latin typeface="思源宋体 CN" panose="02020400000000000000" charset="-122"/>
                  <a:ea typeface="思源宋体 CN" panose="02020400000000000000" charset="-122"/>
                  <a:sym typeface="+mn-ea"/>
                </a:rPr>
                <a:t>Research Hotspots and Development Trends</a:t>
              </a:r>
              <a:endParaRPr lang="en-US" altLang="zh-CN" spc="200">
                <a:solidFill>
                  <a:schemeClr val="accent1"/>
                </a:solidFill>
                <a:uFillTx/>
                <a:latin typeface="思源宋体 CN" panose="02020400000000000000" charset="-122"/>
                <a:ea typeface="思源宋体 CN" panose="02020400000000000000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1024" y="4137"/>
              <a:ext cx="5475" cy="13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en-US" altLang="zh-CN" sz="5000">
                  <a:solidFill>
                    <a:schemeClr val="tx2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02</a:t>
              </a:r>
              <a:endParaRPr lang="en-US" altLang="zh-CN" sz="5000">
                <a:solidFill>
                  <a:schemeClr val="tx2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4"/>
              </p:custDataLst>
            </p:nvPr>
          </p:nvCxnSpPr>
          <p:spPr>
            <a:xfrm>
              <a:off x="2418" y="4815"/>
              <a:ext cx="1134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对角圆角矩形 48"/>
          <p:cNvSpPr/>
          <p:nvPr>
            <p:custDataLst>
              <p:tags r:id="rId5"/>
            </p:custDataLst>
          </p:nvPr>
        </p:nvSpPr>
        <p:spPr>
          <a:xfrm>
            <a:off x="-375285" y="1665605"/>
            <a:ext cx="2799080" cy="1706880"/>
          </a:xfrm>
          <a:prstGeom prst="round2DiagRect">
            <a:avLst/>
          </a:prstGeom>
          <a:solidFill>
            <a:srgbClr val="0B76C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5" name="直接连接符 4"/>
            <p:cNvCxnSpPr/>
            <p:nvPr>
              <p:custDataLst>
                <p:tags r:id="rId6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7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 descr="VCG41N1159441976"/>
          <p:cNvPicPr>
            <a:picLocks noChangeAspect="1"/>
          </p:cNvPicPr>
          <p:nvPr/>
        </p:nvPicPr>
        <p:blipFill>
          <a:blip r:embed="rId1"/>
          <a:srcRect t="21215" b="23529"/>
          <a:stretch>
            <a:fillRect/>
          </a:stretch>
        </p:blipFill>
        <p:spPr>
          <a:xfrm>
            <a:off x="358140" y="2226945"/>
            <a:ext cx="6530340" cy="2396490"/>
          </a:xfrm>
          <a:prstGeom prst="round2Diag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62266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RQ1: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发文演化趋势与知识积累期分析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l"/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608965" y="5066030"/>
            <a:ext cx="5304790" cy="1423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主要发现：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2017—2025年间，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电力负荷预测领域发文量总体呈快速增长趋势，研究热度持续提升，表明该领域已逐渐成为智能电网与能源预测研究的重要方向。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65" y="1109345"/>
            <a:ext cx="5059045" cy="3070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62380" y="4179570"/>
            <a:ext cx="375221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2017—2025年</a:t>
            </a:r>
            <a:r>
              <a:rPr lang="en-US" altLang="zh-CN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LSTM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驱动电力负荷预测研究年度发文趋势图</a:t>
            </a:r>
            <a:endParaRPr lang="zh-CN" altLang="en-US" sz="200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2" name="图示 11"/>
          <p:cNvGraphicFramePr/>
          <p:nvPr/>
        </p:nvGraphicFramePr>
        <p:xfrm>
          <a:off x="6445885" y="1722120"/>
          <a:ext cx="5167630" cy="3121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913755" y="1109345"/>
            <a:ext cx="4064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阶段特征：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57975" y="5056505"/>
            <a:ext cx="4885690" cy="1195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发文趋势表明，LSTM电力负荷预测研究已由早期探索阶段逐步迈向成熟发展阶段，研究重心正从单一模型优化转向多模型融合与复杂场景应用。</a:t>
            </a:r>
            <a:endParaRPr lang="zh-CN" altLang="en-US" sz="2000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62266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RQ2: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研究热点与技术演化分析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flipH="1">
            <a:off x="5027930" y="1205865"/>
            <a:ext cx="6584950" cy="5274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研究热点特征：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从研究方法频次分布图来看，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仍然是电力负荷预测领域最核心的基础模型，占据绝对主导地位。与此同时，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Attention、CNN-LSTM、BiLSTM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以及分解集成模型等改进方法频繁出现，表明研究重点正由单一模型逐步向融合模型和智能架构演化。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场景演化特征：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应用场景频次分布图来看，电力负荷预测仍是研究最集中的核心场景。随着新能源并网和智能电网建设的快速发展，相关研究逐渐向智能电网、可再生能源、综合能源系统以及需求响应等方向扩展，应用范围不断拓宽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2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核心结论：</a:t>
            </a:r>
            <a:endParaRPr lang="zh-CN" altLang="en-US" sz="22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Attention、CNN-LSTM、BiLSTM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和分解集成模型为代表的改进技术路线，与智能电网、新能源系统和建筑能耗管理等新兴应用场景相互融合，共同构成了当前领域的重要技术—场景研究热点，并推动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电力负荷预测研究向智能化、精细化和复杂场景化方向持续演进。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8965" y="1109345"/>
            <a:ext cx="4138998" cy="5489575"/>
            <a:chOff x="959" y="1747"/>
            <a:chExt cx="5889" cy="8645"/>
          </a:xfrm>
        </p:grpSpPr>
        <p:grpSp>
          <p:nvGrpSpPr>
            <p:cNvPr id="16" name="组合 15"/>
            <p:cNvGrpSpPr/>
            <p:nvPr/>
          </p:nvGrpSpPr>
          <p:grpSpPr>
            <a:xfrm>
              <a:off x="959" y="1747"/>
              <a:ext cx="5889" cy="4321"/>
              <a:chOff x="959" y="1747"/>
              <a:chExt cx="5889" cy="432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706" y="5357"/>
                <a:ext cx="3136" cy="71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 fontAlgn="auto">
                  <a:lnSpc>
                    <a:spcPct val="100000"/>
                  </a:lnSpc>
                  <a:spcAft>
                    <a:spcPts val="1000"/>
                  </a:spcAft>
                  <a:buClrTx/>
                  <a:buSzTx/>
                  <a:buFontTx/>
                </a:pPr>
                <a:r>
                  <a:rPr lang="zh-CN" altLang="en-US" sz="1600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研究方法频次分布图</a:t>
                </a:r>
                <a:endParaRPr lang="zh-CN" altLang="en-US" sz="160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9" y="1747"/>
                <a:ext cx="5889" cy="3589"/>
              </a:xfrm>
              <a:prstGeom prst="rect">
                <a:avLst/>
              </a:prstGeom>
            </p:spPr>
          </p:pic>
        </p:grpSp>
        <p:grpSp>
          <p:nvGrpSpPr>
            <p:cNvPr id="15" name="组合 14"/>
            <p:cNvGrpSpPr/>
            <p:nvPr/>
          </p:nvGrpSpPr>
          <p:grpSpPr>
            <a:xfrm>
              <a:off x="959" y="6068"/>
              <a:ext cx="5889" cy="4324"/>
              <a:chOff x="959" y="6068"/>
              <a:chExt cx="5889" cy="4324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9" y="6068"/>
                <a:ext cx="5889" cy="3613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2947" y="9681"/>
                <a:ext cx="2655" cy="71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 fontAlgn="auto">
                  <a:lnSpc>
                    <a:spcPct val="100000"/>
                  </a:lnSpc>
                  <a:spcAft>
                    <a:spcPts val="1000"/>
                  </a:spcAft>
                  <a:buClrTx/>
                  <a:buSzTx/>
                  <a:buFontTx/>
                </a:pPr>
                <a:r>
                  <a:rPr lang="zh-CN" altLang="en-US" sz="1600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场景频次分布图</a:t>
                </a:r>
                <a:endParaRPr lang="zh-CN" altLang="en-US" sz="160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</p:grp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VCG41N1159441976"/>
          <p:cNvPicPr>
            <a:picLocks noChangeAspect="1"/>
          </p:cNvPicPr>
          <p:nvPr/>
        </p:nvPicPr>
        <p:blipFill>
          <a:blip r:embed="rId1">
            <a:alphaModFix amt="10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419340" y="2339340"/>
            <a:ext cx="4772660" cy="3206115"/>
            <a:chOff x="1024" y="4137"/>
            <a:chExt cx="7516" cy="5049"/>
          </a:xfrm>
        </p:grpSpPr>
        <p:sp>
          <p:nvSpPr>
            <p:cNvPr id="19" name="文本框 18"/>
            <p:cNvSpPr txBox="1"/>
            <p:nvPr/>
          </p:nvSpPr>
          <p:spPr>
            <a:xfrm>
              <a:off x="1024" y="5493"/>
              <a:ext cx="7516" cy="232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zh-CN" altLang="en-US" sz="4500" b="1">
                  <a:solidFill>
                    <a:schemeClr val="accent1"/>
                  </a:solidFill>
                  <a:latin typeface="方正小标宋简体" panose="02000000000000000000" charset="-122"/>
                  <a:ea typeface="方正小标宋简体" panose="02000000000000000000" charset="-122"/>
                </a:rPr>
                <a:t>知识结构与学术生态</a:t>
              </a:r>
              <a:endParaRPr lang="zh-CN" altLang="en-US" sz="45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024" y="7734"/>
              <a:ext cx="7516" cy="145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50000"/>
                </a:lnSpc>
              </a:pPr>
              <a:r>
                <a:rPr lang="en-US" altLang="zh-CN" spc="200">
                  <a:solidFill>
                    <a:schemeClr val="accent1"/>
                  </a:solidFill>
                  <a:uFillTx/>
                  <a:latin typeface="思源宋体 CN" panose="02020400000000000000" charset="-122"/>
                  <a:ea typeface="思源宋体 CN" panose="02020400000000000000" charset="-122"/>
                  <a:sym typeface="+mn-ea"/>
                </a:rPr>
                <a:t>Knowledge Structure and Academic Ecology</a:t>
              </a:r>
              <a:endParaRPr lang="en-US" altLang="zh-CN" spc="200">
                <a:solidFill>
                  <a:schemeClr val="accent1"/>
                </a:solidFill>
                <a:uFillTx/>
                <a:latin typeface="思源宋体 CN" panose="02020400000000000000" charset="-122"/>
                <a:ea typeface="思源宋体 CN" panose="02020400000000000000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1024" y="4137"/>
              <a:ext cx="5475" cy="13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en-US" altLang="zh-CN" sz="5000">
                  <a:solidFill>
                    <a:schemeClr val="tx2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03</a:t>
              </a:r>
              <a:endParaRPr lang="en-US" altLang="zh-CN" sz="5000">
                <a:solidFill>
                  <a:schemeClr val="tx2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4"/>
              </p:custDataLst>
            </p:nvPr>
          </p:nvCxnSpPr>
          <p:spPr>
            <a:xfrm>
              <a:off x="2418" y="4815"/>
              <a:ext cx="1134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对角圆角矩形 48"/>
          <p:cNvSpPr/>
          <p:nvPr>
            <p:custDataLst>
              <p:tags r:id="rId5"/>
            </p:custDataLst>
          </p:nvPr>
        </p:nvSpPr>
        <p:spPr>
          <a:xfrm>
            <a:off x="-375285" y="1665605"/>
            <a:ext cx="2799080" cy="1706880"/>
          </a:xfrm>
          <a:prstGeom prst="round2DiagRect">
            <a:avLst/>
          </a:prstGeom>
          <a:solidFill>
            <a:srgbClr val="0B76C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5" name="直接连接符 4"/>
            <p:cNvCxnSpPr/>
            <p:nvPr>
              <p:custDataLst>
                <p:tags r:id="rId6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7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 descr="VCG41N1159441976"/>
          <p:cNvPicPr>
            <a:picLocks noChangeAspect="1"/>
          </p:cNvPicPr>
          <p:nvPr/>
        </p:nvPicPr>
        <p:blipFill>
          <a:blip r:embed="rId1"/>
          <a:srcRect t="21215" b="23529"/>
          <a:stretch>
            <a:fillRect/>
          </a:stretch>
        </p:blipFill>
        <p:spPr>
          <a:xfrm>
            <a:off x="358140" y="2226945"/>
            <a:ext cx="6530340" cy="2396490"/>
          </a:xfrm>
          <a:prstGeom prst="round2Diag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202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RQ3: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引文共被引网络与社区演化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b="79866"/>
          <a:stretch>
            <a:fillRect/>
          </a:stretch>
        </p:blipFill>
        <p:spPr>
          <a:xfrm>
            <a:off x="5433695" y="2529205"/>
            <a:ext cx="6675755" cy="983615"/>
          </a:xfrm>
          <a:prstGeom prst="rect">
            <a:avLst/>
          </a:prstGeom>
        </p:spPr>
      </p:pic>
      <p:sp>
        <p:nvSpPr>
          <p:cNvPr id="2" name="矩形 4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7195" y="1207135"/>
            <a:ext cx="11530965" cy="6756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核心结论：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文献共被引网络呈现“高度异质、社区边界清晰、里程碑文献虹吸效应显著”的特征，模块度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Q&gt;0.5，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知识集群范式清晰但存在“范式茧房”现象。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l="2072" t="40454" r="13275" b="4743"/>
          <a:stretch>
            <a:fillRect/>
          </a:stretch>
        </p:blipFill>
        <p:spPr>
          <a:xfrm>
            <a:off x="5313045" y="3512820"/>
            <a:ext cx="6796405" cy="3219450"/>
          </a:xfrm>
          <a:prstGeom prst="rect">
            <a:avLst/>
          </a:prstGeom>
        </p:spPr>
      </p:pic>
      <p:sp>
        <p:nvSpPr>
          <p:cNvPr id="37" name="矩形 4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2120" y="2111375"/>
            <a:ext cx="5462270" cy="3148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关键证据： 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①早期知识库（红色簇）：以“居民级负荷预测”为核心，确立气象特征（温湿度）作为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外生变量的标准范式。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②方法论基石（蓝色簇）：以“信号分解+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LSTM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集成”为核心，通过小波/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SSA/VMD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拆解非平稳负荷，形成高凝聚力的方法集群。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③前沿交叉核心群（绿色簇）：以“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CNN-BiLSTM-Attention 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混合模型”为核心，成为网络中最高中介中心性的枢纽节点。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矩形 4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5130" y="5677535"/>
            <a:ext cx="5509260" cy="9531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解读与边界提醒：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各知识集群方法论分工明确，但后续研究多为算法替换（如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EMD→VMD），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未突破里程碑文献建立的特征工程与模型拓扑边界。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0" name="矩形 4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31330" y="2194560"/>
            <a:ext cx="4929505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运行</a:t>
            </a:r>
            <a:r>
              <a:rPr lang="en-US" altLang="zh-CN" sz="12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src/co_citation.py</a:t>
            </a:r>
            <a:r>
              <a:rPr lang="zh-CN" altLang="en-US" sz="12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生成引文共被引社区聚类拓扑：</a:t>
            </a:r>
            <a:endParaRPr lang="zh-CN" altLang="en-US" sz="1200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854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RQ4: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合作格局与知识重叠度分析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6"/>
          <a:srcRect l="1283" r="52172" b="2175"/>
          <a:stretch>
            <a:fillRect/>
          </a:stretch>
        </p:blipFill>
        <p:spPr>
          <a:xfrm>
            <a:off x="8406130" y="245110"/>
            <a:ext cx="3439795" cy="3183890"/>
          </a:xfrm>
          <a:prstGeom prst="rect">
            <a:avLst/>
          </a:prstGeom>
        </p:spPr>
      </p:pic>
      <p:pic>
        <p:nvPicPr>
          <p:cNvPr id="20" name="Picture 7"/>
          <p:cNvPicPr>
            <a:picLocks noChangeAspect="1"/>
          </p:cNvPicPr>
          <p:nvPr/>
        </p:nvPicPr>
        <p:blipFill>
          <a:blip r:embed="rId6"/>
          <a:srcRect l="53011" r="2904" b="5527"/>
          <a:stretch>
            <a:fillRect/>
          </a:stretch>
        </p:blipFill>
        <p:spPr>
          <a:xfrm>
            <a:off x="8533130" y="3545840"/>
            <a:ext cx="3312795" cy="3128010"/>
          </a:xfrm>
          <a:prstGeom prst="rect">
            <a:avLst/>
          </a:prstGeom>
        </p:spPr>
      </p:pic>
      <p:sp>
        <p:nvSpPr>
          <p:cNvPr id="22" name="矩形 4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87375" y="1207135"/>
            <a:ext cx="7619365" cy="9531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核心结论：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学术生态呈现“地理局部群聚、强内聚弱外联、工业巨头虹吸”的分布特征，中国研究团队在近五年表现出极高的技术同质性与发文规模。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3" name="矩形 4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3720" y="2458085"/>
            <a:ext cx="7653020" cy="19119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关键证据： 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①合作图谱呈现显著的“星状拓扑”与“斑块状群落”，国家电网、华北电力大学、西安交通大学等机构构成了全球最大的联合研究版图，度中心性极高。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②文献耦合网络的平均共享被引数为1.0，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Jaccard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耦合系数高，表明大量中下游文献引用高度重合。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4850" y="244475"/>
            <a:ext cx="3521710" cy="322643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324215" y="3470910"/>
            <a:ext cx="3521710" cy="32029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4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3720" y="4667885"/>
            <a:ext cx="7653020" cy="16351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解读与反思：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①大群落形成机制：负荷预测在电力调度中的直接经济效益，推动了国家电网等工业巨头牵头的 “产学研深度合著联盟” 的建立。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②同质化风险提示：高耦合系数揭示了当前研究存在 “内卷” 现象，大量工作仍围绕经典文献展开，真正的颠覆性基础创新相对稀缺。</a:t>
            </a:r>
            <a:endParaRPr lang="en-US" altLang="zh-CN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VCG41N1159441976"/>
          <p:cNvPicPr>
            <a:picLocks noChangeAspect="1"/>
          </p:cNvPicPr>
          <p:nvPr/>
        </p:nvPicPr>
        <p:blipFill>
          <a:blip r:embed="rId1">
            <a:alphaModFix amt="10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419340" y="2339340"/>
            <a:ext cx="3476625" cy="860425"/>
            <a:chOff x="1024" y="4137"/>
            <a:chExt cx="5475" cy="1355"/>
          </a:xfrm>
        </p:grpSpPr>
        <p:sp>
          <p:nvSpPr>
            <p:cNvPr id="22" name="文本框 21"/>
            <p:cNvSpPr txBox="1"/>
            <p:nvPr>
              <p:custDataLst>
                <p:tags r:id="rId2"/>
              </p:custDataLst>
            </p:nvPr>
          </p:nvSpPr>
          <p:spPr>
            <a:xfrm>
              <a:off x="1024" y="4137"/>
              <a:ext cx="5475" cy="13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fontAlgn="ctr">
                <a:lnSpc>
                  <a:spcPct val="100000"/>
                </a:lnSpc>
              </a:pPr>
              <a:r>
                <a:rPr lang="en-US" altLang="zh-CN" sz="5000">
                  <a:solidFill>
                    <a:schemeClr val="tx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04</a:t>
              </a:r>
              <a:endParaRPr lang="en-US" altLang="zh-CN" sz="5000">
                <a:solidFill>
                  <a:schemeClr val="tx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2418" y="4815"/>
              <a:ext cx="113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对角圆角矩形 48"/>
          <p:cNvSpPr/>
          <p:nvPr>
            <p:custDataLst>
              <p:tags r:id="rId3"/>
            </p:custDataLst>
          </p:nvPr>
        </p:nvSpPr>
        <p:spPr>
          <a:xfrm>
            <a:off x="-375285" y="1665605"/>
            <a:ext cx="2799080" cy="1706880"/>
          </a:xfrm>
          <a:prstGeom prst="round2DiagRect">
            <a:avLst/>
          </a:prstGeom>
          <a:solidFill>
            <a:srgbClr val="0B76C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5" name="直接连接符 4"/>
            <p:cNvCxnSpPr/>
            <p:nvPr>
              <p:custDataLst>
                <p:tags r:id="rId4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5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 descr="VCG41N1159441976"/>
          <p:cNvPicPr>
            <a:picLocks noChangeAspect="1"/>
          </p:cNvPicPr>
          <p:nvPr/>
        </p:nvPicPr>
        <p:blipFill>
          <a:blip r:embed="rId1"/>
          <a:srcRect t="21215" b="23529"/>
          <a:stretch>
            <a:fillRect/>
          </a:stretch>
        </p:blipFill>
        <p:spPr>
          <a:xfrm>
            <a:off x="358140" y="2226945"/>
            <a:ext cx="6530340" cy="2396490"/>
          </a:xfrm>
          <a:prstGeom prst="round2Diag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19340" y="3200400"/>
            <a:ext cx="4772660" cy="1476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fontAlgn="ctr">
              <a:lnSpc>
                <a:spcPct val="100000"/>
              </a:lnSpc>
            </a:pPr>
            <a:r>
              <a:rPr lang="zh-CN" altLang="en-US" sz="45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研究结论与未来展望</a:t>
            </a:r>
            <a:endParaRPr lang="zh-CN" altLang="en-US" sz="45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7419340" y="4623435"/>
            <a:ext cx="4772660" cy="9220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fontAlgn="ctr">
              <a:lnSpc>
                <a:spcPct val="150000"/>
              </a:lnSpc>
            </a:pPr>
            <a:r>
              <a:rPr lang="en-US" altLang="zh-CN" spc="200">
                <a:solidFill>
                  <a:schemeClr val="accent1"/>
                </a:solidFill>
                <a:uFillTx/>
                <a:latin typeface="思源宋体 CN" panose="02020400000000000000" charset="-122"/>
                <a:ea typeface="思源宋体 CN" panose="02020400000000000000" charset="-122"/>
                <a:sym typeface="+mn-ea"/>
              </a:rPr>
              <a:t>Research Conclusions and Future Outlook</a:t>
            </a:r>
            <a:endParaRPr lang="en-US" altLang="zh-CN" spc="200">
              <a:solidFill>
                <a:schemeClr val="accent1"/>
              </a:solidFill>
              <a:uFillTx/>
              <a:latin typeface="思源宋体 CN" panose="02020400000000000000" charset="-122"/>
              <a:ea typeface="思源宋体 CN" panose="02020400000000000000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6503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核心发现与研究局限性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37" name="矩形 4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56285" y="4554855"/>
            <a:ext cx="9426575" cy="20199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研究局限性：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模型可解释性下降: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模型复杂度增加，导致可解释性变差，调优和部署成本上升。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数据质量与标准化难题: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数据存在缺失、噪声，且标准不一，增加了模型迁移难度。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研究方向的同质化倾向: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大量研究沿用既有框架进行局部改进，缺乏颠覆性创新。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工程落地与转化的壁垒: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多步预测误差累积、高部署成本等问题限制了成果转化。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7"/>
            </p:custDataLst>
          </p:nvPr>
        </p:nvGraphicFramePr>
        <p:xfrm>
          <a:off x="528320" y="1153160"/>
          <a:ext cx="11222600" cy="419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53820"/>
                <a:gridCol w="853147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要点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核心发现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RQ1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发展态势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领域呈“萌芽→增长→扩张”三阶段演化，研究范式向技术融合与场景驱动发展。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RQ2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研究热点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技术热点围绕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Attention-LSTM、CNN-LSTM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等融合模型，技术与应用场景协同演化。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RQ3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知识结构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形成由基础验证、方法创新、融合智能构成的稳定知识体系，但存在路径依赖。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黑体" panose="02010609060101010101" charset="-122"/>
                          <a:ea typeface="黑体" panose="02010609060101010101" charset="-122"/>
                        </a:rPr>
                        <a:t>RQ4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学术生态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呈现“多核心、强内聚、产学研融合”特征，中国已成为全球研究中心。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202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项目贡献，</a:t>
            </a:r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AI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说明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8965" y="1144270"/>
            <a:ext cx="5346700" cy="16421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endParaRPr lang="zh-CN" altLang="en-US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理论贡献：构建完整分析框架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将文献计量分析与技术综述深度融合，提升了研究结论的客观性。创新性构建“发展态势—技术热点—应用场景—知识结构—未来趋势”的闭环分析框架，填补了领域研究视角的空白。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140450" y="1144270"/>
            <a:ext cx="5604510" cy="16421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endParaRPr lang="zh-CN" altLang="en-US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实践价值：赋能行业科学决策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为科研人员提供领域现状的量化参考，加速研究方向确立；同时为电力企业与能源管理机构识别关键技术、优化模型部署与资源配置提供了切实可行的决策支撑。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ctr"/>
            <a:endParaRPr lang="zh-CN" altLang="en-US"/>
          </a:p>
        </p:txBody>
      </p:sp>
      <p:sp>
        <p:nvSpPr>
          <p:cNvPr id="16" name="矩形 4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59130" y="2833370"/>
            <a:ext cx="10883900" cy="3917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学术诚实与</a:t>
            </a:r>
            <a:r>
              <a:rPr lang="en-US" altLang="zh-CN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使用披露</a:t>
            </a:r>
            <a:r>
              <a:rPr lang="zh-CN" altLang="en-US" sz="20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000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本研究严格遵守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辅助学术写作的伦理规范，对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工具的使用边界进行明确披露：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①</a:t>
            </a:r>
            <a:r>
              <a:rPr lang="en-US" altLang="zh-CN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工具的辅助场景</a:t>
            </a:r>
            <a:endParaRPr lang="zh-CN" altLang="en-US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lvl="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术语检索扩展：利用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生成检索词变体，经人工核验后用于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query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配置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lvl="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文本结构优化：对计量发现的学术表述进行句式润色与结构规范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lvl="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格式转换辅助：将原始数据表格转换为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Markdown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规范格式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②学术红线声明</a:t>
            </a:r>
            <a:endParaRPr lang="zh-CN" altLang="en-US" b="1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lvl="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真实性背书：所有核心文献、数据指标、聚类特征均由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Python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脚本真实计算，无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虚构内容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lvl="0" indent="-28575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代码可辩护性：所有分析算法（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NetworkX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矩阵运算、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Jaccard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相似度等）均为团队自主编写，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仅辅助添加注释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93700"/>
            <a:ext cx="8202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GitHub 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开源与复现体系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16" name="矩形 4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98525" y="1276985"/>
            <a:ext cx="10786745" cy="50628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noAutofit/>
          </a:bodyPr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环境配置：基于 </a:t>
            </a:r>
            <a:r>
              <a:rPr lang="en-US" altLang="zh-CN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Conda </a:t>
            </a: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一键创建项目虚拟环境，并安装所有依赖库。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数据处理：运行自动化脚本，完成数据清洗、排重与标准化。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指标计算：一键生成发文趋势、方法 / 场景频次分布等核心指标。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lvl="0" indent="-34290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 typeface="+mj-ea"/>
              <a:buAutoNum type="circleNumDbPlain"/>
            </a:pPr>
            <a:r>
              <a:rPr lang="zh-CN" altLang="en-US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网络构建：自动化构建共被引、耦合等网络，并执行社区聚类分析。</a:t>
            </a:r>
            <a:endParaRPr lang="zh-CN" altLang="en-US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280795" y="1661160"/>
            <a:ext cx="9136380" cy="15913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# 创建并激活项目专属沙箱环境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conda create -n lstm_bibliometrics python=3.10 -y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conda activate lstm_bibliometrics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# 一键注入核心计量库（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pandas、networkx 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等）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pip install -r requirements.txt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280795" y="3642995"/>
            <a:ext cx="9136380" cy="4292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src/preprocessing.py --config config/query.yaml --input data/raw/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80795" y="4434840"/>
            <a:ext cx="9136380" cy="4292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src/indicators.py --task all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80795" y="5277485"/>
            <a:ext cx="9136380" cy="13830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# 构建并生成共被引网络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src/co_citation.py --threshold 0.15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# 构建并生成文献耦合与学者/机构合作综合网络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 src/coupling_or_collab.py --min_weight 2</a:t>
            </a:r>
            <a:endParaRPr lang="en-US" altLang="zh-CN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矩形 4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98525" y="958850"/>
            <a:ext cx="78174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 compatLnSpc="0">
            <a:spAutoFit/>
          </a:bodyPr>
          <a:p>
            <a:pPr lvl="0" algn="l" fontAlgn="auto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600" b="1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项目链接：</a:t>
            </a:r>
            <a:r>
              <a:rPr lang="en-US" altLang="zh-CN" sz="1600">
                <a:solidFill>
                  <a:schemeClr val="accent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https://github.com/ro111Doc/EnergySys-AI-Trends</a:t>
            </a:r>
            <a:endParaRPr lang="en-US" altLang="zh-CN" sz="1600">
              <a:solidFill>
                <a:schemeClr val="accent1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10800000">
            <a:off x="-38100" y="0"/>
            <a:ext cx="12235815" cy="6882765"/>
          </a:xfrm>
          <a:prstGeom prst="rect">
            <a:avLst/>
          </a:pr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59080" y="478155"/>
            <a:ext cx="13144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00">
                <a:solidFill>
                  <a:schemeClr val="lt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ACTIVITY</a:t>
            </a:r>
            <a:endParaRPr lang="en-US" altLang="zh-CN" sz="1300">
              <a:solidFill>
                <a:schemeClr val="lt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rgbClr val="EFC1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对角圆角矩形 4"/>
          <p:cNvSpPr/>
          <p:nvPr>
            <p:custDataLst>
              <p:tags r:id="rId4"/>
            </p:custDataLst>
          </p:nvPr>
        </p:nvSpPr>
        <p:spPr>
          <a:xfrm>
            <a:off x="-38100" y="0"/>
            <a:ext cx="12236450" cy="2404110"/>
          </a:xfrm>
          <a:prstGeom prst="round2DiagRect">
            <a:avLst>
              <a:gd name="adj1" fmla="val 0"/>
              <a:gd name="adj2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66090" y="252095"/>
            <a:ext cx="11379835" cy="6421755"/>
          </a:xfrm>
          <a:prstGeom prst="roundRect">
            <a:avLst>
              <a:gd name="adj" fmla="val 3334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02895"/>
            <a:ext cx="80327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分工，</a:t>
            </a:r>
            <a:r>
              <a:rPr lang="en-US" altLang="zh-CN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GitHub</a:t>
            </a:r>
            <a:r>
              <a:rPr lang="zh-CN" altLang="en-US" sz="4000" b="1">
                <a:solidFill>
                  <a:schemeClr val="accent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项目目录树</a:t>
            </a:r>
            <a:endParaRPr lang="zh-CN" altLang="en-US" sz="4000" b="1">
              <a:solidFill>
                <a:schemeClr val="accent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6"/>
            </p:custDataLst>
          </p:nvPr>
        </p:nvGraphicFramePr>
        <p:xfrm>
          <a:off x="1316355" y="918210"/>
          <a:ext cx="3754755" cy="577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/>
                <a:gridCol w="2707005"/>
              </a:tblGrid>
              <a:tr h="468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成员</a:t>
                      </a:r>
                      <a:endParaRPr lang="en-US" altLang="zh-CN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200">
                          <a:latin typeface="黑体" panose="02010609060101010101" charset="-122"/>
                          <a:ea typeface="黑体" panose="02010609060101010101" charset="-122"/>
                        </a:rPr>
                        <a:t>核心分工</a:t>
                      </a:r>
                      <a:endParaRPr lang="zh-CN" altLang="en-US" sz="22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刘泽熙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文献筛选与清洗规则制定；耦合/合作网络代码实现；报告撰写与汇报准备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龚乐瑶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检索词与查询逻辑设计；数据模型与项目文档规范；项目文件整理与交付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郭逸清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文献筛选规则落地；共被引网络代码实现；报告撰写与汇报准备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兰宏智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latin typeface="黑体" panose="02010609060101010101" charset="-122"/>
                          <a:ea typeface="黑体" panose="02010609060101010101" charset="-122"/>
                        </a:rPr>
                        <a:t>检索式编写与数据获取；指标规范与可视化；核心综述文本撰写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t="722" b="1102"/>
          <a:stretch>
            <a:fillRect/>
          </a:stretch>
        </p:blipFill>
        <p:spPr>
          <a:xfrm>
            <a:off x="6538595" y="252095"/>
            <a:ext cx="5498465" cy="66306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VCG41N1159441976"/>
          <p:cNvPicPr>
            <a:picLocks noChangeAspect="1"/>
          </p:cNvPicPr>
          <p:nvPr/>
        </p:nvPicPr>
        <p:blipFill>
          <a:blip r:embed="rId1">
            <a:alphaModFix amt="15000"/>
          </a:blip>
          <a:srcRect b="14971"/>
          <a:stretch>
            <a:fillRect/>
          </a:stretch>
        </p:blipFill>
        <p:spPr>
          <a:xfrm>
            <a:off x="0" y="0"/>
            <a:ext cx="12191365" cy="6884670"/>
          </a:xfrm>
          <a:prstGeom prst="rect">
            <a:avLst/>
          </a:prstGeom>
        </p:spPr>
      </p:pic>
      <p:pic>
        <p:nvPicPr>
          <p:cNvPr id="2" name="图片 1" descr="VCG41N1159441977"/>
          <p:cNvPicPr>
            <a:picLocks noChangeAspect="1"/>
          </p:cNvPicPr>
          <p:nvPr/>
        </p:nvPicPr>
        <p:blipFill>
          <a:blip r:embed="rId2"/>
          <a:srcRect b="32222"/>
          <a:stretch>
            <a:fillRect/>
          </a:stretch>
        </p:blipFill>
        <p:spPr>
          <a:xfrm>
            <a:off x="1812925" y="1098550"/>
            <a:ext cx="10380980" cy="4672965"/>
          </a:xfrm>
          <a:prstGeom prst="round2Diag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914400" y="1731645"/>
            <a:ext cx="6458585" cy="3030220"/>
            <a:chOff x="1468" y="2273"/>
            <a:chExt cx="10171" cy="4772"/>
          </a:xfrm>
        </p:grpSpPr>
        <p:sp>
          <p:nvSpPr>
            <p:cNvPr id="21" name="文本框 20"/>
            <p:cNvSpPr txBox="1"/>
            <p:nvPr/>
          </p:nvSpPr>
          <p:spPr>
            <a:xfrm>
              <a:off x="1468" y="2769"/>
              <a:ext cx="8214" cy="13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 fontAlgn="ctr">
                <a:lnSpc>
                  <a:spcPct val="100000"/>
                </a:lnSpc>
              </a:pPr>
              <a:r>
                <a:rPr lang="zh-CN" altLang="en-US" sz="4900" b="1">
                  <a:solidFill>
                    <a:schemeClr val="accent1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" panose="02020400000000000000" charset="-122"/>
                  <a:sym typeface="+mn-ea"/>
                </a:rPr>
                <a:t>感谢</a:t>
              </a:r>
              <a:r>
                <a:rPr lang="zh-CN" altLang="en-US" sz="4900" b="1">
                  <a:solidFill>
                    <a:schemeClr val="accent1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" panose="02020400000000000000" charset="-122"/>
                  <a:sym typeface="+mn-ea"/>
                </a:rPr>
                <a:t>观看</a:t>
              </a:r>
              <a:endParaRPr lang="zh-CN" altLang="en-US" sz="4900" b="1">
                <a:solidFill>
                  <a:schemeClr val="accent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" panose="02020400000000000000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3"/>
              </p:custDataLst>
            </p:nvPr>
          </p:nvSpPr>
          <p:spPr>
            <a:xfrm>
              <a:off x="1468" y="3684"/>
              <a:ext cx="10171" cy="123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 fontAlgn="ctr">
                <a:lnSpc>
                  <a:spcPct val="150000"/>
                </a:lnSpc>
              </a:pPr>
              <a:r>
                <a:rPr lang="en-US" altLang="zh-CN" sz="3000" b="1">
                  <a:solidFill>
                    <a:schemeClr val="dk1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" panose="02020400000000000000" charset="-122"/>
                  <a:sym typeface="+mn-ea"/>
                </a:rPr>
                <a:t>THANKS</a:t>
              </a:r>
              <a:endParaRPr lang="en-US" altLang="zh-CN" sz="3000" b="1">
                <a:solidFill>
                  <a:schemeClr val="dk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" panose="02020400000000000000" charset="-122"/>
                <a:sym typeface="+mn-ea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664" y="6363"/>
              <a:ext cx="682" cy="682"/>
              <a:chOff x="1200" y="7840"/>
              <a:chExt cx="682" cy="682"/>
            </a:xfrm>
          </p:grpSpPr>
          <p:sp>
            <p:nvSpPr>
              <p:cNvPr id="24" name="椭圆 23"/>
              <p:cNvSpPr/>
              <p:nvPr>
                <p:custDataLst>
                  <p:tags r:id="rId4"/>
                </p:custDataLst>
              </p:nvPr>
            </p:nvSpPr>
            <p:spPr>
              <a:xfrm>
                <a:off x="1200" y="7840"/>
                <a:ext cx="682" cy="682"/>
              </a:xfrm>
              <a:prstGeom prst="ellipse">
                <a:avLst/>
              </a:prstGeom>
              <a:noFill/>
              <a:ln w="19050" cmpd="sng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endParaRPr>
              </a:p>
            </p:txBody>
          </p:sp>
          <p:sp>
            <p:nvSpPr>
              <p:cNvPr id="26" name="等腰三角形 25"/>
              <p:cNvSpPr/>
              <p:nvPr>
                <p:custDataLst>
                  <p:tags r:id="rId5"/>
                </p:custDataLst>
              </p:nvPr>
            </p:nvSpPr>
            <p:spPr>
              <a:xfrm rot="5400000">
                <a:off x="1435" y="8097"/>
                <a:ext cx="260" cy="167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endParaRPr>
              </a:p>
            </p:txBody>
          </p:sp>
        </p:grpSp>
        <p:cxnSp>
          <p:nvCxnSpPr>
            <p:cNvPr id="12" name="直接连接符 11"/>
            <p:cNvCxnSpPr/>
            <p:nvPr>
              <p:custDataLst>
                <p:tags r:id="rId6"/>
              </p:custDataLst>
            </p:nvPr>
          </p:nvCxnSpPr>
          <p:spPr>
            <a:xfrm>
              <a:off x="2904" y="2273"/>
              <a:ext cx="2461" cy="0"/>
            </a:xfrm>
            <a:prstGeom prst="line">
              <a:avLst/>
            </a:prstGeom>
            <a:ln w="9525"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1543030" y="560705"/>
            <a:ext cx="302260" cy="90170"/>
            <a:chOff x="18178" y="883"/>
            <a:chExt cx="476" cy="142"/>
          </a:xfrm>
        </p:grpSpPr>
        <p:cxnSp>
          <p:nvCxnSpPr>
            <p:cNvPr id="33" name="直接连接符 32"/>
            <p:cNvCxnSpPr/>
            <p:nvPr>
              <p:custDataLst>
                <p:tags r:id="rId7"/>
              </p:custDataLst>
            </p:nvPr>
          </p:nvCxnSpPr>
          <p:spPr>
            <a:xfrm>
              <a:off x="18178" y="883"/>
              <a:ext cx="477" cy="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8"/>
              </p:custDataLst>
            </p:nvPr>
          </p:nvCxnSpPr>
          <p:spPr>
            <a:xfrm flipV="1">
              <a:off x="18288" y="1017"/>
              <a:ext cx="367" cy="8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</p:tagLst>
</file>

<file path=ppt/tags/tag67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68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DIAGRAM_VIRTUALLY_FRAME" val="{&quot;height&quot;:277.1,&quot;left&quot;:30.55,&quot;top&quot;:160.7,&quot;width&quot;:709.4}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75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  <p:tag name="KSO_WM_DIAGRAM_VIRTUALLY_FRAME" val="{&quot;height&quot;:277.1,&quot;left&quot;:30.55,&quot;top&quot;:160.7,&quot;width&quot;:709.4}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DIAGRAM_VIRTUALLY_FRAME" val="{&quot;height&quot;:277.1,&quot;left&quot;:30.55,&quot;top&quot;:160.7,&quot;width&quot;:709.4}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79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  <p:tag name="KSO_WM_DIAGRAM_VIRTUALLY_FRAME" val="{&quot;height&quot;:277.1,&quot;left&quot;:30.55,&quot;top&quot;:160.7,&quot;width&quot;:709.4}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DIAGRAM_VIRTUALLY_FRAME" val="{&quot;height&quot;:277.1,&quot;left&quot;:30.55,&quot;top&quot;:160.7,&quot;width&quot;:709.4}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83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  <p:tag name="KSO_WM_DIAGRAM_VIRTUALLY_FRAME" val="{&quot;height&quot;:277.1,&quot;left&quot;:30.55,&quot;top&quot;:160.7,&quot;width&quot;:709.4}"/>
</p:tagLst>
</file>

<file path=ppt/tags/tag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DIAGRAM_VIRTUALLY_FRAME" val="{&quot;height&quot;:277.1,&quot;left&quot;:30.55,&quot;top&quot;:160.7,&quot;width&quot;:709.4}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87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  <p:tag name="KSO_WM_DIAGRAM_VIRTUALLY_FRAME" val="{&quot;height&quot;:277.1,&quot;left&quot;:30.55,&quot;top&quot;:160.7,&quot;width&quot;:709.4}"/>
</p:tagLst>
</file>

<file path=ppt/tags/tag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277.1,&quot;left&quot;:30.55,&quot;top&quot;:160.7,&quot;width&quot;:709.4}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4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95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8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9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3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4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5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6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7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8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09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0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1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2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3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4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5.xml><?xml version="1.0" encoding="utf-8"?>
<p:tagLst xmlns:p="http://schemas.openxmlformats.org/presentationml/2006/main">
  <p:tag name="KSO_WM_DIAGRAM_VIRTUALLY_FRAME" val="{&quot;height&quot;:357,&quot;left&quot;:617.7,&quot;top&quot;:111.2,&quot;width&quot;:265.55}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8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1.xml><?xml version="1.0" encoding="utf-8"?>
<p:tagLst xmlns:p="http://schemas.openxmlformats.org/presentationml/2006/main">
  <p:tag name="TABLE_ENDDRAG_ORIGIN_RECT" val="755*330"/>
  <p:tag name="TABLE_ENDDRAG_RECT" val="63*136*755*330"/>
</p:tagLst>
</file>

<file path=ppt/tags/tag1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4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TABLE_ENDDRAG_ORIGIN_RECT" val="574*150"/>
  <p:tag name="TABLE_ENDDRAG_RECT" val="47*346*574*150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3.xml><?xml version="1.0" encoding="utf-8"?>
<p:tagLst xmlns:p="http://schemas.openxmlformats.org/presentationml/2006/main">
  <p:tag name="TABLE_ENDDRAG_ORIGIN_RECT" val="554*239"/>
  <p:tag name="TABLE_ENDDRAG_RECT" val="344*195*554*239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9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40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57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0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6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9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7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7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79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3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87.xml><?xml version="1.0" encoding="utf-8"?>
<p:tagLst xmlns:p="http://schemas.openxmlformats.org/presentationml/2006/main">
  <p:tag name="TABLE_ENDDRAG_ORIGIN_RECT" val="755*330"/>
  <p:tag name="TABLE_ENDDRAG_RECT" val="63*136*755*330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0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20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6.xml><?xml version="1.0" encoding="utf-8"?>
<p:tagLst xmlns:p="http://schemas.openxmlformats.org/presentationml/2006/main">
  <p:tag name="TABLE_ENDDRAG_ORIGIN_RECT" val="755*330"/>
  <p:tag name="TABLE_ENDDRAG_RECT" val="63*136*755*330"/>
</p:tagLst>
</file>

<file path=ppt/tags/tag2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5"/>
  <p:tag name="KSO_WM_UNIT_LINE_FILL_TYPE" val="2"/>
</p:tagLst>
</file>

<file path=ppt/tags/tag21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10"/>
  <p:tag name="KSO_WM_UNIT_FILL_TYPE" val="1"/>
</p:tagLst>
</file>

<file path=ppt/tags/tag211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</p:tagLst>
</file>

<file path=ppt/tags/tag212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213.xml><?xml version="1.0" encoding="utf-8"?>
<p:tagLst xmlns:p="http://schemas.openxmlformats.org/presentationml/2006/main">
  <p:tag name="KSO_WM_UNIT_LINE_FORE_SCHEMECOLOR_INDEX_BRIGHTNESS" val="0"/>
  <p:tag name="KSO_WM_UNIT_LINE_FORE_SCHEMECOLOR_INDEX" val="10"/>
  <p:tag name="KSO_WM_UNIT_LINE_FILL_TYPE" val="2"/>
</p:tagLst>
</file>

<file path=ppt/tags/tag2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.xml><?xml version="1.0" encoding="utf-8"?>
<p:tagLst xmlns:p="http://schemas.openxmlformats.org/presentationml/2006/main">
  <p:tag name="COMMONDATA" val="eyJoZGlkIjoiYjg5NzVhN2Y5MzA5MWI0ZDI3OWFjNDU0ZmQxN2ViNzA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7456D"/>
      </a:accent1>
      <a:accent2>
        <a:srgbClr val="730A89"/>
      </a:accent2>
      <a:accent3>
        <a:srgbClr val="CE8E12"/>
      </a:accent3>
      <a:accent4>
        <a:srgbClr val="9A1C34"/>
      </a:accent4>
      <a:accent5>
        <a:srgbClr val="851441"/>
      </a:accent5>
      <a:accent6>
        <a:srgbClr val="CE5E32"/>
      </a:accent6>
      <a:hlink>
        <a:srgbClr val="F91919"/>
      </a:hlink>
      <a:folHlink>
        <a:srgbClr val="23FFAF"/>
      </a:folHlink>
    </a:clrScheme>
    <a:fontScheme name="自定义 9">
      <a:majorFont>
        <a:latin typeface="Arial"/>
        <a:ea typeface="思源宋体 CN"/>
        <a:cs typeface=""/>
      </a:majorFont>
      <a:minorFont>
        <a:latin typeface="Arial"/>
        <a:ea typeface="思源宋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"/>
        <a:ea typeface=""/>
        <a:cs typeface=""/>
        <a:font script="Jpan" typeface="ＭＳ Ｐゴシック"/>
        <a:font script="Hang" typeface="맑은 고딕"/>
        <a:font script="Hans" typeface="思源宋体 C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"/>
        <a:ea typeface=""/>
        <a:cs typeface=""/>
        <a:font script="Jpan" typeface="ＭＳ Ｐゴシック"/>
        <a:font script="Hang" typeface="맑은 고딕"/>
        <a:font script="Hans" typeface="思源宋体 C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4757</Words>
  <Application>WPS 演示</Application>
  <PresentationFormat>宽屏</PresentationFormat>
  <Paragraphs>377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思源宋体 CN</vt:lpstr>
      <vt:lpstr>Wingdings</vt:lpstr>
      <vt:lpstr>方正小标宋简体</vt:lpstr>
      <vt:lpstr>思源宋体 CN Heavy</vt:lpstr>
      <vt:lpstr>黑体</vt:lpstr>
      <vt:lpstr>等线</vt:lpstr>
      <vt:lpstr>微软雅黑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刘泽熙0228</cp:lastModifiedBy>
  <cp:revision>312</cp:revision>
  <dcterms:created xsi:type="dcterms:W3CDTF">2019-06-19T02:08:00Z</dcterms:created>
  <dcterms:modified xsi:type="dcterms:W3CDTF">2026-06-09T18:32:06Z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E8A13BC9770E4B4784F094D852750CD8_13</vt:lpwstr>
  </property>
  <property fmtid="{D5CDD505-2E9C-101B-9397-08002B2CF9AE}" pid="4" name="KSOTemplateUUID">
    <vt:lpwstr>v1.0_mb_CHR8lClL+gYgWACRE8iDAA==</vt:lpwstr>
  </property>
</Properties>
</file>